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removePersonalInfoOnSave="1" saveSubsetFonts="1">
  <p:sldMasterIdLst>
    <p:sldMasterId id="2147483648" r:id="rId2"/>
  </p:sldMasterIdLst>
  <p:notesMasterIdLst>
    <p:notesMasterId r:id="rId18"/>
  </p:notesMasterIdLst>
  <p:handoutMasterIdLst>
    <p:handoutMasterId r:id="rId19"/>
  </p:handoutMasterIdLst>
  <p:sldIdLst>
    <p:sldId id="277" r:id="rId3"/>
    <p:sldId id="286" r:id="rId4"/>
    <p:sldId id="287" r:id="rId5"/>
    <p:sldId id="288" r:id="rId6"/>
    <p:sldId id="291" r:id="rId7"/>
    <p:sldId id="294" r:id="rId8"/>
    <p:sldId id="293" r:id="rId9"/>
    <p:sldId id="295" r:id="rId10"/>
    <p:sldId id="296" r:id="rId11"/>
    <p:sldId id="297" r:id="rId12"/>
    <p:sldId id="298" r:id="rId13"/>
    <p:sldId id="321" r:id="rId14"/>
    <p:sldId id="306" r:id="rId15"/>
    <p:sldId id="307" r:id="rId16"/>
    <p:sldId id="30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7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99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latinLnBrk="0">
              <a:defRPr lang="he-IL" sz="1200"/>
            </a:lvl1pPr>
          </a:lstStyle>
          <a:p>
            <a:pPr algn="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3" name="מציין מיקום תאריך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latinLnBrk="0">
              <a:defRPr lang="he-IL" sz="1200"/>
            </a:lvl1pPr>
          </a:lstStyle>
          <a:p>
            <a:pPr algn="r" rtl="1"/>
            <a:fld id="{65DD71D7-55AC-46BD-81B3-09AB2F9EFBD8}" type="datetimeFigureOut">
              <a:rPr lang="he-IL" smtClean="0">
                <a:cs typeface="Tahoma" panose="020B0604030504040204" pitchFamily="34" charset="0"/>
              </a:rPr>
              <a:t>י"ז/חשון/תשפ"ו</a:t>
            </a:fld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4" name="מציין מיקום כותרת תחתונה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latinLnBrk="0">
              <a:defRPr lang="he-IL" sz="1200"/>
            </a:lvl1pPr>
          </a:lstStyle>
          <a:p>
            <a:pPr algn="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5" name="מציין מיקום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latinLnBrk="0">
              <a:defRPr lang="he-IL" sz="1200"/>
            </a:lvl1pPr>
          </a:lstStyle>
          <a:p>
            <a:pPr algn="r" rtl="1"/>
            <a:fld id="{2840BD58-3BFF-4EAF-BB8B-AC67FE801E47}" type="slidenum">
              <a:rPr lang="he-IL" smtClean="0">
                <a:cs typeface="Tahoma" panose="020B0604030504040204" pitchFamily="34" charset="0"/>
              </a:rPr>
              <a:t>‹#›</a:t>
            </a:fld>
            <a:endParaRPr lang="he-IL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latinLnBrk="0">
              <a:defRPr lang="he-IL" sz="1200">
                <a:cs typeface="Tahoma" panose="020B0604030504040204" pitchFamily="34" charset="0"/>
              </a:defRPr>
            </a:lvl1pPr>
          </a:lstStyle>
          <a:p>
            <a:pPr rtl="1"/>
            <a:endParaRPr lang="he-IL" dirty="0"/>
          </a:p>
        </p:txBody>
      </p:sp>
      <p:sp>
        <p:nvSpPr>
          <p:cNvPr id="3" name="מציין מיקום תאריך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latinLnBrk="0">
              <a:defRPr lang="he-IL" sz="1200">
                <a:cs typeface="Tahoma" panose="020B0604030504040204" pitchFamily="34" charset="0"/>
              </a:defRPr>
            </a:lvl1pPr>
          </a:lstStyle>
          <a:p>
            <a:pPr rtl="1"/>
            <a:fld id="{1F89424F-BB59-4F4E-9822-4CA3E770FFD2}" type="datetimeFigureOut">
              <a:rPr lang="he-IL" smtClean="0"/>
              <a:pPr rtl="1"/>
              <a:t>י"ז/חשון/תשפ"ו</a:t>
            </a:fld>
            <a:endParaRPr lang="he-IL" dirty="0"/>
          </a:p>
        </p:txBody>
      </p:sp>
      <p:sp>
        <p:nvSpPr>
          <p:cNvPr id="4" name="מציין מיקום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algn="r" rtl="1"/>
            <a:endParaRPr lang="he-IL" dirty="0"/>
          </a:p>
        </p:txBody>
      </p:sp>
      <p:sp>
        <p:nvSpPr>
          <p:cNvPr id="5" name="מציין מיקום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algn="r" rtl="1"/>
            <a:r>
              <a:rPr lang="he-IL" dirty="0"/>
              <a:t>לחץ כדי לערוך סגנונות טקסט של תבנית בסיס</a:t>
            </a:r>
          </a:p>
          <a:p>
            <a:pPr lvl="1" algn="r" rtl="1"/>
            <a:r>
              <a:rPr lang="he-IL" dirty="0"/>
              <a:t>רמה שניה</a:t>
            </a:r>
          </a:p>
          <a:p>
            <a:pPr lvl="2" algn="r" rtl="1"/>
            <a:r>
              <a:rPr lang="he-IL" dirty="0"/>
              <a:t>רמה שלישית</a:t>
            </a:r>
          </a:p>
          <a:p>
            <a:pPr lvl="3" algn="r" rtl="1"/>
            <a:r>
              <a:rPr lang="he-IL" dirty="0"/>
              <a:t>רמה רביעית</a:t>
            </a:r>
          </a:p>
          <a:p>
            <a:pPr lvl="4" algn="r" rtl="1"/>
            <a:r>
              <a:rPr lang="he-IL" dirty="0"/>
              <a:t>רמה חמישית</a:t>
            </a:r>
          </a:p>
        </p:txBody>
      </p:sp>
      <p:sp>
        <p:nvSpPr>
          <p:cNvPr id="6" name="מציין מיקום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latinLnBrk="0">
              <a:defRPr lang="he-IL" sz="1200">
                <a:cs typeface="Tahoma" panose="020B0604030504040204" pitchFamily="34" charset="0"/>
              </a:defRPr>
            </a:lvl1pPr>
          </a:lstStyle>
          <a:p>
            <a:pPr rtl="1"/>
            <a:endParaRPr lang="he-IL" dirty="0"/>
          </a:p>
        </p:txBody>
      </p:sp>
      <p:sp>
        <p:nvSpPr>
          <p:cNvPr id="7" name="מציין מיקום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latinLnBrk="0">
              <a:defRPr lang="he-IL" sz="1200">
                <a:cs typeface="Tahoma" panose="020B0604030504040204" pitchFamily="34" charset="0"/>
              </a:defRPr>
            </a:lvl1pPr>
          </a:lstStyle>
          <a:p>
            <a:pPr rtl="1"/>
            <a:fld id="{68322CDD-9D6C-4F63-9EC2-648226624108}" type="slidenum">
              <a:rPr lang="he-IL" smtClean="0"/>
              <a:pPr rtl="1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Tahoma" panose="020B0604030504040204" pitchFamily="34" charset="0"/>
      </a:defRPr>
    </a:lvl1pPr>
    <a:lvl2pPr marL="4572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Tahoma" panose="020B0604030504040204" pitchFamily="34" charset="0"/>
      </a:defRPr>
    </a:lvl2pPr>
    <a:lvl3pPr marL="9144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Tahoma" panose="020B0604030504040204" pitchFamily="34" charset="0"/>
      </a:defRPr>
    </a:lvl3pPr>
    <a:lvl4pPr marL="13716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Tahoma" panose="020B0604030504040204" pitchFamily="34" charset="0"/>
      </a:defRPr>
    </a:lvl4pPr>
    <a:lvl5pPr marL="18288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Tahoma" panose="020B0604030504040204" pitchFamily="34" charset="0"/>
      </a:defRPr>
    </a:lvl5pPr>
    <a:lvl6pPr marL="22860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66800" y="2606040"/>
            <a:ext cx="10058400" cy="2743200"/>
          </a:xfrm>
        </p:spPr>
        <p:txBody>
          <a:bodyPr anchor="b">
            <a:normAutofit/>
          </a:bodyPr>
          <a:lstStyle>
            <a:lvl1pPr algn="r" latinLnBrk="0">
              <a:lnSpc>
                <a:spcPct val="80000"/>
              </a:lnSpc>
              <a:defRPr lang="he-IL" sz="6000">
                <a:solidFill>
                  <a:schemeClr val="tx1"/>
                </a:solidFill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pPr algn="r" rtl="1"/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066800" y="5360437"/>
            <a:ext cx="10058400" cy="365760"/>
          </a:xfrm>
        </p:spPr>
        <p:txBody>
          <a:bodyPr>
            <a:normAutofit/>
          </a:bodyPr>
          <a:lstStyle>
            <a:lvl1pPr marL="0" indent="0" algn="r" latinLnBrk="0">
              <a:spcBef>
                <a:spcPts val="0"/>
              </a:spcBef>
              <a:buNone/>
              <a:defRPr lang="he-IL" sz="1800" b="1" cap="all" baseline="0">
                <a:solidFill>
                  <a:schemeClr val="accent1"/>
                </a:solidFill>
                <a:effectLst/>
              </a:defRPr>
            </a:lvl1pPr>
            <a:lvl2pPr marL="457200" indent="0" algn="r" latinLnBrk="0">
              <a:buNone/>
              <a:defRPr lang="he-IL" sz="2000"/>
            </a:lvl2pPr>
            <a:lvl3pPr marL="914400" indent="0" algn="r" latinLnBrk="0">
              <a:buNone/>
              <a:defRPr lang="he-IL" sz="1800"/>
            </a:lvl3pPr>
            <a:lvl4pPr marL="1371600" indent="0" algn="r" latinLnBrk="0">
              <a:buNone/>
              <a:defRPr lang="he-IL" sz="1600"/>
            </a:lvl4pPr>
            <a:lvl5pPr marL="1828800" indent="0" algn="r" latinLnBrk="0">
              <a:buNone/>
              <a:defRPr lang="he-IL" sz="1600"/>
            </a:lvl5pPr>
            <a:lvl6pPr marL="2286000" indent="0" algn="r" latinLnBrk="0">
              <a:buNone/>
              <a:defRPr lang="he-IL" sz="1600"/>
            </a:lvl6pPr>
            <a:lvl7pPr marL="2743200" indent="0" algn="r" latinLnBrk="0">
              <a:buNone/>
              <a:defRPr lang="he-IL" sz="1600"/>
            </a:lvl7pPr>
            <a:lvl8pPr marL="3200400" indent="0" algn="r" latinLnBrk="0">
              <a:buNone/>
              <a:defRPr lang="he-IL" sz="1600"/>
            </a:lvl8pPr>
            <a:lvl9pPr marL="3657600" indent="0" algn="r" latinLnBrk="0">
              <a:buNone/>
              <a:defRPr lang="he-IL" sz="1600"/>
            </a:lvl9pPr>
          </a:lstStyle>
          <a:p>
            <a:pPr algn="r" rtl="1"/>
            <a:r>
              <a:rPr lang="he-IL"/>
              <a:t>לחץ כדי לערוך סגנון כותרת משנה של תבנית בסיס</a:t>
            </a:r>
            <a:endParaRPr lang="he-IL" dirty="0"/>
          </a:p>
        </p:txBody>
      </p:sp>
      <p:sp>
        <p:nvSpPr>
          <p:cNvPr id="8" name="מלבן 7"/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9" name="מלבן 8"/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</a:p>
        </p:txBody>
      </p:sp>
      <p:sp>
        <p:nvSpPr>
          <p:cNvPr id="4" name="מציין מיקום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5" name="מציין מיקום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0" y="283"/>
            <a:ext cx="4435717" cy="6856286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332784" y="1565829"/>
            <a:ext cx="5943600" cy="4114800"/>
          </a:xfrm>
        </p:spPr>
        <p:txBody>
          <a:bodyPr anchor="b">
            <a:normAutofit/>
          </a:bodyPr>
          <a:lstStyle>
            <a:lvl1pPr algn="r" latinLnBrk="0">
              <a:lnSpc>
                <a:spcPct val="80000"/>
              </a:lnSpc>
              <a:defRPr lang="he-IL" sz="4800"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pPr algn="r" rtl="1"/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5332785" y="5682343"/>
            <a:ext cx="5943600" cy="410547"/>
          </a:xfrm>
        </p:spPr>
        <p:txBody>
          <a:bodyPr>
            <a:noAutofit/>
          </a:bodyPr>
          <a:lstStyle>
            <a:lvl1pPr marL="0" indent="0" algn="r" latinLnBrk="0">
              <a:spcBef>
                <a:spcPts val="0"/>
              </a:spcBef>
              <a:buNone/>
              <a:defRPr lang="he-IL" sz="1600" b="1" cap="all" baseline="0"/>
            </a:lvl1pPr>
            <a:lvl2pPr marL="457200" indent="0" algn="r" latinLnBrk="0">
              <a:buNone/>
              <a:defRPr lang="he-IL" sz="2000"/>
            </a:lvl2pPr>
            <a:lvl3pPr marL="914400" indent="0" algn="r" latinLnBrk="0">
              <a:buNone/>
              <a:defRPr lang="he-IL" sz="1800"/>
            </a:lvl3pPr>
            <a:lvl4pPr marL="1371600" indent="0" algn="r" latinLnBrk="0">
              <a:buNone/>
              <a:defRPr lang="he-IL" sz="1600"/>
            </a:lvl4pPr>
            <a:lvl5pPr marL="1828800" indent="0" algn="r" latinLnBrk="0">
              <a:buNone/>
              <a:defRPr lang="he-IL" sz="1600"/>
            </a:lvl5pPr>
            <a:lvl6pPr marL="2286000" indent="0" algn="r" latinLnBrk="0">
              <a:buNone/>
              <a:defRPr lang="he-IL" sz="1600"/>
            </a:lvl6pPr>
            <a:lvl7pPr marL="2743200" indent="0" algn="r" latinLnBrk="0">
              <a:buNone/>
              <a:defRPr lang="he-IL" sz="1600"/>
            </a:lvl7pPr>
            <a:lvl8pPr marL="3200400" indent="0" algn="r" latinLnBrk="0">
              <a:buNone/>
              <a:defRPr lang="he-IL" sz="1600"/>
            </a:lvl8pPr>
            <a:lvl9pPr marL="3657600" indent="0" algn="r" latinLnBrk="0">
              <a:buNone/>
              <a:defRPr lang="he-IL" sz="16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</p:txBody>
      </p:sp>
      <p:sp>
        <p:nvSpPr>
          <p:cNvPr id="9" name="מלבן 8"/>
          <p:cNvSpPr/>
          <p:nvPr userDrawn="1"/>
        </p:nvSpPr>
        <p:spPr>
          <a:xfrm>
            <a:off x="4435803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11" name="מלבן 10"/>
          <p:cNvSpPr/>
          <p:nvPr userDrawn="1"/>
        </p:nvSpPr>
        <p:spPr>
          <a:xfrm>
            <a:off x="4435717" y="0"/>
            <a:ext cx="54864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תוכן כפו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295400" y="1825625"/>
            <a:ext cx="4724400" cy="4117975"/>
          </a:xfrm>
        </p:spPr>
        <p:txBody>
          <a:bodyPr>
            <a:normAutofit/>
          </a:bodyPr>
          <a:lstStyle>
            <a:lvl1pPr algn="r" latinLnBrk="0">
              <a:defRPr lang="he-IL" sz="1800"/>
            </a:lvl1pPr>
            <a:lvl2pPr algn="r" latinLnBrk="0">
              <a:defRPr lang="he-IL" sz="1600"/>
            </a:lvl2pPr>
            <a:lvl3pPr algn="r" latinLnBrk="0">
              <a:defRPr lang="he-IL" sz="1400"/>
            </a:lvl3pPr>
            <a:lvl4pPr algn="r" latinLnBrk="0">
              <a:defRPr lang="he-IL" sz="1200"/>
            </a:lvl4pPr>
            <a:lvl5pPr algn="r" latinLnBrk="0">
              <a:defRPr lang="he-IL" sz="1200"/>
            </a:lvl5pPr>
            <a:lvl6pPr algn="r" latinLnBrk="0">
              <a:defRPr lang="he-IL" sz="1800"/>
            </a:lvl6pPr>
            <a:lvl7pPr algn="r" latinLnBrk="0">
              <a:defRPr lang="he-IL" sz="1800"/>
            </a:lvl7pPr>
            <a:lvl8pPr algn="r" latinLnBrk="0">
              <a:defRPr lang="he-IL" sz="1800"/>
            </a:lvl8pPr>
            <a:lvl9pPr algn="r" latinLnBrk="0">
              <a:defRPr lang="he-IL" sz="18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  <a:endParaRPr lang="he-IL" dirty="0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4724400" cy="4117975"/>
          </a:xfrm>
        </p:spPr>
        <p:txBody>
          <a:bodyPr>
            <a:normAutofit/>
          </a:bodyPr>
          <a:lstStyle>
            <a:lvl1pPr algn="r" latinLnBrk="0">
              <a:defRPr lang="he-IL" sz="1800"/>
            </a:lvl1pPr>
            <a:lvl2pPr algn="r" latinLnBrk="0">
              <a:defRPr lang="he-IL" sz="1600"/>
            </a:lvl2pPr>
            <a:lvl3pPr algn="r" latinLnBrk="0">
              <a:defRPr lang="he-IL" sz="1400"/>
            </a:lvl3pPr>
            <a:lvl4pPr algn="r" latinLnBrk="0">
              <a:defRPr lang="he-IL" sz="1200"/>
            </a:lvl4pPr>
            <a:lvl5pPr algn="r" latinLnBrk="0">
              <a:defRPr lang="he-IL" sz="1200"/>
            </a:lvl5pPr>
            <a:lvl6pPr algn="r" latinLnBrk="0">
              <a:defRPr lang="he-IL" sz="1800"/>
            </a:lvl6pPr>
            <a:lvl7pPr algn="r" latinLnBrk="0">
              <a:defRPr lang="he-IL" sz="1800"/>
            </a:lvl7pPr>
            <a:lvl8pPr algn="r" latinLnBrk="0">
              <a:defRPr lang="he-IL" sz="1800"/>
            </a:lvl8pPr>
            <a:lvl9pPr algn="r" latinLnBrk="0">
              <a:defRPr lang="he-IL" sz="18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  <a:endParaRPr lang="he-IL" dirty="0"/>
          </a:p>
        </p:txBody>
      </p:sp>
      <p:sp>
        <p:nvSpPr>
          <p:cNvPr id="5" name="מציין מיקום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7" name="מציין מיקום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727448" cy="641350"/>
          </a:xfrm>
        </p:spPr>
        <p:txBody>
          <a:bodyPr anchor="ctr">
            <a:normAutofit/>
          </a:bodyPr>
          <a:lstStyle>
            <a:lvl1pPr marL="0" indent="0" algn="r" latinLnBrk="0">
              <a:spcBef>
                <a:spcPts val="0"/>
              </a:spcBef>
              <a:buNone/>
              <a:defRPr lang="he-IL" sz="1800" b="1" cap="all" baseline="0"/>
            </a:lvl1pPr>
            <a:lvl2pPr marL="457200" indent="0" algn="r" latinLnBrk="0">
              <a:buNone/>
              <a:defRPr lang="he-IL" sz="2000" b="1"/>
            </a:lvl2pPr>
            <a:lvl3pPr marL="914400" indent="0" algn="r" latinLnBrk="0">
              <a:buNone/>
              <a:defRPr lang="he-IL" sz="1800" b="1"/>
            </a:lvl3pPr>
            <a:lvl4pPr marL="1371600" indent="0" algn="r" latinLnBrk="0">
              <a:buNone/>
              <a:defRPr lang="he-IL" sz="1600" b="1"/>
            </a:lvl4pPr>
            <a:lvl5pPr marL="1828800" indent="0" algn="r" latinLnBrk="0">
              <a:buNone/>
              <a:defRPr lang="he-IL" sz="1600" b="1"/>
            </a:lvl5pPr>
            <a:lvl6pPr marL="2286000" indent="0" algn="r" latinLnBrk="0">
              <a:buNone/>
              <a:defRPr lang="he-IL" sz="1600" b="1"/>
            </a:lvl6pPr>
            <a:lvl7pPr marL="2743200" indent="0" algn="r" latinLnBrk="0">
              <a:buNone/>
              <a:defRPr lang="he-IL" sz="1600" b="1"/>
            </a:lvl7pPr>
            <a:lvl8pPr marL="3200400" indent="0" algn="r" latinLnBrk="0">
              <a:buNone/>
              <a:defRPr lang="he-IL" sz="1600" b="1"/>
            </a:lvl8pPr>
            <a:lvl9pPr marL="3657600" indent="0" algn="r" latinLnBrk="0">
              <a:buNone/>
              <a:defRPr lang="he-IL" sz="1600" b="1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295400" y="2470151"/>
            <a:ext cx="4727448" cy="3473450"/>
          </a:xfrm>
        </p:spPr>
        <p:txBody>
          <a:bodyPr>
            <a:normAutofit/>
          </a:bodyPr>
          <a:lstStyle>
            <a:lvl1pPr algn="r" latinLnBrk="0">
              <a:defRPr lang="he-IL" sz="1800"/>
            </a:lvl1pPr>
            <a:lvl2pPr algn="r" latinLnBrk="0">
              <a:defRPr lang="he-IL" sz="1600"/>
            </a:lvl2pPr>
            <a:lvl3pPr algn="r" latinLnBrk="0">
              <a:defRPr lang="he-IL" sz="1400"/>
            </a:lvl3pPr>
            <a:lvl4pPr algn="r" latinLnBrk="0">
              <a:defRPr lang="he-IL" sz="1200"/>
            </a:lvl4pPr>
            <a:lvl5pPr algn="r" latinLnBrk="0">
              <a:defRPr lang="he-IL" sz="1200"/>
            </a:lvl5pPr>
            <a:lvl6pPr algn="r" latinLnBrk="0">
              <a:defRPr lang="he-IL" sz="1600"/>
            </a:lvl6pPr>
            <a:lvl7pPr algn="r" latinLnBrk="0">
              <a:defRPr lang="he-IL" sz="1600"/>
            </a:lvl7pPr>
            <a:lvl8pPr algn="r" latinLnBrk="0">
              <a:defRPr lang="he-IL" sz="1600"/>
            </a:lvl8pPr>
            <a:lvl9pPr algn="r" latinLnBrk="0">
              <a:defRPr lang="he-IL" sz="16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  <a:endParaRPr lang="he-IL" dirty="0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67628" y="1828800"/>
            <a:ext cx="4727448" cy="641350"/>
          </a:xfrm>
        </p:spPr>
        <p:txBody>
          <a:bodyPr anchor="ctr">
            <a:normAutofit/>
          </a:bodyPr>
          <a:lstStyle>
            <a:lvl1pPr marL="0" indent="0" algn="r" latinLnBrk="0">
              <a:spcBef>
                <a:spcPts val="0"/>
              </a:spcBef>
              <a:buNone/>
              <a:defRPr lang="he-IL" sz="1800" b="1" cap="all" baseline="0"/>
            </a:lvl1pPr>
            <a:lvl2pPr marL="457200" indent="0" algn="r" latinLnBrk="0">
              <a:buNone/>
              <a:defRPr lang="he-IL" sz="2000" b="1"/>
            </a:lvl2pPr>
            <a:lvl3pPr marL="914400" indent="0" algn="r" latinLnBrk="0">
              <a:buNone/>
              <a:defRPr lang="he-IL" sz="1800" b="1"/>
            </a:lvl3pPr>
            <a:lvl4pPr marL="1371600" indent="0" algn="r" latinLnBrk="0">
              <a:buNone/>
              <a:defRPr lang="he-IL" sz="1600" b="1"/>
            </a:lvl4pPr>
            <a:lvl5pPr marL="1828800" indent="0" algn="r" latinLnBrk="0">
              <a:buNone/>
              <a:defRPr lang="he-IL" sz="1600" b="1"/>
            </a:lvl5pPr>
            <a:lvl6pPr marL="2286000" indent="0" algn="r" latinLnBrk="0">
              <a:buNone/>
              <a:defRPr lang="he-IL" sz="1600" b="1"/>
            </a:lvl6pPr>
            <a:lvl7pPr marL="2743200" indent="0" algn="r" latinLnBrk="0">
              <a:buNone/>
              <a:defRPr lang="he-IL" sz="1600" b="1"/>
            </a:lvl7pPr>
            <a:lvl8pPr marL="3200400" indent="0" algn="r" latinLnBrk="0">
              <a:buNone/>
              <a:defRPr lang="he-IL" sz="1600" b="1"/>
            </a:lvl8pPr>
            <a:lvl9pPr marL="3657600" indent="0" algn="r" latinLnBrk="0">
              <a:buNone/>
              <a:defRPr lang="he-IL" sz="1600" b="1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69152" y="2470151"/>
            <a:ext cx="4727448" cy="3473450"/>
          </a:xfrm>
        </p:spPr>
        <p:txBody>
          <a:bodyPr>
            <a:normAutofit/>
          </a:bodyPr>
          <a:lstStyle>
            <a:lvl1pPr algn="r" latinLnBrk="0">
              <a:defRPr lang="he-IL" sz="1800"/>
            </a:lvl1pPr>
            <a:lvl2pPr algn="r" latinLnBrk="0">
              <a:defRPr lang="he-IL" sz="1600"/>
            </a:lvl2pPr>
            <a:lvl3pPr algn="r" latinLnBrk="0">
              <a:defRPr lang="he-IL" sz="1400"/>
            </a:lvl3pPr>
            <a:lvl4pPr algn="r" latinLnBrk="0">
              <a:defRPr lang="he-IL" sz="1200"/>
            </a:lvl4pPr>
            <a:lvl5pPr algn="r" latinLnBrk="0">
              <a:defRPr lang="he-IL" sz="1200"/>
            </a:lvl5pPr>
            <a:lvl6pPr algn="r" latinLnBrk="0">
              <a:defRPr lang="he-IL" sz="1600"/>
            </a:lvl6pPr>
            <a:lvl7pPr algn="r" latinLnBrk="0">
              <a:defRPr lang="he-IL" sz="1600"/>
            </a:lvl7pPr>
            <a:lvl8pPr algn="r" latinLnBrk="0">
              <a:defRPr lang="he-IL" sz="1600"/>
            </a:lvl8pPr>
            <a:lvl9pPr algn="r" latinLnBrk="0">
              <a:defRPr lang="he-IL" sz="16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  <a:endParaRPr lang="he-IL" dirty="0"/>
          </a:p>
        </p:txBody>
      </p:sp>
      <p:sp>
        <p:nvSpPr>
          <p:cNvPr id="7" name="מציין מיקום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8" name="מציין מיקום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9" name="מציין מיקום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4" name="מציין מיקום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5" name="מציין מיקום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3" name="מציין מיקום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4" name="מציין מיקום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 flipH="1">
            <a:off x="0" y="283"/>
            <a:ext cx="4435717" cy="6856286"/>
          </a:xfrm>
          <a:prstGeom prst="rect">
            <a:avLst/>
          </a:prstGeom>
        </p:spPr>
      </p:pic>
      <p:sp>
        <p:nvSpPr>
          <p:cNvPr id="10" name="מלבן 9"/>
          <p:cNvSpPr/>
          <p:nvPr userDrawn="1"/>
        </p:nvSpPr>
        <p:spPr>
          <a:xfrm>
            <a:off x="4438684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11" name="מלבן 10"/>
          <p:cNvSpPr/>
          <p:nvPr userDrawn="1"/>
        </p:nvSpPr>
        <p:spPr>
          <a:xfrm>
            <a:off x="4452846" y="0"/>
            <a:ext cx="54864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273893" y="685226"/>
            <a:ext cx="6126480" cy="5486400"/>
          </a:xfrm>
        </p:spPr>
        <p:txBody>
          <a:bodyPr>
            <a:normAutofit/>
          </a:bodyPr>
          <a:lstStyle>
            <a:lvl1pPr algn="r" latinLnBrk="0">
              <a:defRPr lang="he-IL" sz="2000"/>
            </a:lvl1pPr>
            <a:lvl2pPr algn="r" latinLnBrk="0">
              <a:defRPr lang="he-IL" sz="1800"/>
            </a:lvl2pPr>
            <a:lvl3pPr algn="r" latinLnBrk="0">
              <a:defRPr lang="he-IL" sz="1600"/>
            </a:lvl3pPr>
            <a:lvl4pPr algn="r" latinLnBrk="0">
              <a:defRPr lang="he-IL" sz="1400"/>
            </a:lvl4pPr>
            <a:lvl5pPr algn="r" latinLnBrk="0">
              <a:defRPr lang="he-IL" sz="1400"/>
            </a:lvl5pPr>
            <a:lvl6pPr algn="r" latinLnBrk="0">
              <a:defRPr lang="he-IL" sz="2000"/>
            </a:lvl6pPr>
            <a:lvl7pPr algn="r" latinLnBrk="0">
              <a:defRPr lang="he-IL" sz="2000"/>
            </a:lvl7pPr>
            <a:lvl8pPr algn="r" latinLnBrk="0">
              <a:defRPr lang="he-IL" sz="2000"/>
            </a:lvl8pPr>
            <a:lvl9pPr algn="r" latinLnBrk="0">
              <a:defRPr lang="he-IL" sz="20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</a:p>
        </p:txBody>
      </p:sp>
      <p:sp>
        <p:nvSpPr>
          <p:cNvPr id="5" name="מציין מיקום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7" name="מציין מיקום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  <p:sp>
        <p:nvSpPr>
          <p:cNvPr id="12" name="כותרת 1"/>
          <p:cNvSpPr>
            <a:spLocks noGrp="1"/>
          </p:cNvSpPr>
          <p:nvPr>
            <p:ph type="title"/>
          </p:nvPr>
        </p:nvSpPr>
        <p:spPr>
          <a:xfrm>
            <a:off x="486701" y="2514600"/>
            <a:ext cx="3474720" cy="1600200"/>
          </a:xfrm>
        </p:spPr>
        <p:txBody>
          <a:bodyPr anchor="b">
            <a:normAutofit/>
          </a:bodyPr>
          <a:lstStyle>
            <a:lvl1pPr algn="r" latinLnBrk="0">
              <a:defRPr lang="he-IL" sz="2800"/>
            </a:lvl1pPr>
          </a:lstStyle>
          <a:p>
            <a:pPr algn="r" rtl="1"/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13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86701" y="4343400"/>
            <a:ext cx="3474720" cy="1188720"/>
          </a:xfrm>
        </p:spPr>
        <p:txBody>
          <a:bodyPr>
            <a:normAutofit/>
          </a:bodyPr>
          <a:lstStyle>
            <a:lvl1pPr marL="0" indent="0" algn="r" latinLnBrk="0">
              <a:spcBef>
                <a:spcPts val="800"/>
              </a:spcBef>
              <a:buNone/>
              <a:defRPr lang="he-IL" sz="1600"/>
            </a:lvl1pPr>
            <a:lvl2pPr marL="457200" indent="0" algn="r" latinLnBrk="0">
              <a:buNone/>
              <a:defRPr lang="he-IL" sz="1400"/>
            </a:lvl2pPr>
            <a:lvl3pPr marL="914400" indent="0" algn="r" latinLnBrk="0">
              <a:buNone/>
              <a:defRPr lang="he-IL" sz="1200"/>
            </a:lvl3pPr>
            <a:lvl4pPr marL="1371600" indent="0" algn="r" latinLnBrk="0">
              <a:buNone/>
              <a:defRPr lang="he-IL" sz="1000"/>
            </a:lvl4pPr>
            <a:lvl5pPr marL="1828800" indent="0" algn="r" latinLnBrk="0">
              <a:buNone/>
              <a:defRPr lang="he-IL" sz="1000"/>
            </a:lvl5pPr>
            <a:lvl6pPr marL="2286000" indent="0" algn="r" latinLnBrk="0">
              <a:buNone/>
              <a:defRPr lang="he-IL" sz="1000"/>
            </a:lvl6pPr>
            <a:lvl7pPr marL="2743200" indent="0" algn="r" latinLnBrk="0">
              <a:buNone/>
              <a:defRPr lang="he-IL" sz="1000"/>
            </a:lvl7pPr>
            <a:lvl8pPr marL="3200400" indent="0" algn="r" latinLnBrk="0">
              <a:buNone/>
              <a:defRPr lang="he-IL" sz="1000"/>
            </a:lvl8pPr>
            <a:lvl9pPr marL="3657600" indent="0" algn="r" latinLnBrk="0">
              <a:buNone/>
              <a:defRPr lang="he-IL" sz="10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 flipH="1">
            <a:off x="0" y="283"/>
            <a:ext cx="4435717" cy="6856286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86701" y="2514600"/>
            <a:ext cx="3474720" cy="1600200"/>
          </a:xfrm>
        </p:spPr>
        <p:txBody>
          <a:bodyPr anchor="b">
            <a:normAutofit/>
          </a:bodyPr>
          <a:lstStyle>
            <a:lvl1pPr algn="r" latinLnBrk="0">
              <a:defRPr lang="he-IL" sz="2800"/>
            </a:lvl1pPr>
          </a:lstStyle>
          <a:p>
            <a:pPr algn="r" rtl="1"/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תמונה 2"/>
          <p:cNvSpPr>
            <a:spLocks noGrp="1"/>
          </p:cNvSpPr>
          <p:nvPr>
            <p:ph type="pic" idx="1"/>
          </p:nvPr>
        </p:nvSpPr>
        <p:spPr>
          <a:xfrm>
            <a:off x="5323867" y="1325880"/>
            <a:ext cx="6858000" cy="4206240"/>
          </a:xfrm>
          <a:solidFill>
            <a:schemeClr val="bg2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indent="0" algn="r" latinLnBrk="0">
              <a:buNone/>
              <a:defRPr lang="he-IL" sz="2400"/>
            </a:lvl1pPr>
            <a:lvl2pPr marL="457200" indent="0" algn="r" latinLnBrk="0">
              <a:buNone/>
              <a:defRPr lang="he-IL" sz="2800"/>
            </a:lvl2pPr>
            <a:lvl3pPr marL="914400" indent="0" algn="r" latinLnBrk="0">
              <a:buNone/>
              <a:defRPr lang="he-IL" sz="2400"/>
            </a:lvl3pPr>
            <a:lvl4pPr marL="1371600" indent="0" algn="r" latinLnBrk="0">
              <a:buNone/>
              <a:defRPr lang="he-IL" sz="2000"/>
            </a:lvl4pPr>
            <a:lvl5pPr marL="1828800" indent="0" algn="r" latinLnBrk="0">
              <a:buNone/>
              <a:defRPr lang="he-IL" sz="2000"/>
            </a:lvl5pPr>
            <a:lvl6pPr marL="2286000" indent="0" algn="r" latinLnBrk="0">
              <a:buNone/>
              <a:defRPr lang="he-IL" sz="2000"/>
            </a:lvl6pPr>
            <a:lvl7pPr marL="2743200" indent="0" algn="r" latinLnBrk="0">
              <a:buNone/>
              <a:defRPr lang="he-IL" sz="2000"/>
            </a:lvl7pPr>
            <a:lvl8pPr marL="3200400" indent="0" algn="r" latinLnBrk="0">
              <a:buNone/>
              <a:defRPr lang="he-IL" sz="2000"/>
            </a:lvl8pPr>
            <a:lvl9pPr marL="3657600" indent="0" algn="r" latinLnBrk="0">
              <a:buNone/>
              <a:defRPr lang="he-IL" sz="2000"/>
            </a:lvl9pPr>
          </a:lstStyle>
          <a:p>
            <a:pPr algn="r" rtl="1"/>
            <a:r>
              <a:rPr lang="he-IL"/>
              <a:t>לחץ על הסמל כדי להוסיף תמונה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86701" y="4343400"/>
            <a:ext cx="3474720" cy="1188720"/>
          </a:xfrm>
        </p:spPr>
        <p:txBody>
          <a:bodyPr>
            <a:normAutofit/>
          </a:bodyPr>
          <a:lstStyle>
            <a:lvl1pPr marL="0" indent="0" algn="r" latinLnBrk="0">
              <a:spcBef>
                <a:spcPts val="800"/>
              </a:spcBef>
              <a:buNone/>
              <a:defRPr lang="he-IL" sz="1600"/>
            </a:lvl1pPr>
            <a:lvl2pPr marL="457200" indent="0" algn="r" latinLnBrk="0">
              <a:buNone/>
              <a:defRPr lang="he-IL" sz="1400"/>
            </a:lvl2pPr>
            <a:lvl3pPr marL="914400" indent="0" algn="r" latinLnBrk="0">
              <a:buNone/>
              <a:defRPr lang="he-IL" sz="1200"/>
            </a:lvl3pPr>
            <a:lvl4pPr marL="1371600" indent="0" algn="r" latinLnBrk="0">
              <a:buNone/>
              <a:defRPr lang="he-IL" sz="1000"/>
            </a:lvl4pPr>
            <a:lvl5pPr marL="1828800" indent="0" algn="r" latinLnBrk="0">
              <a:buNone/>
              <a:defRPr lang="he-IL" sz="1000"/>
            </a:lvl5pPr>
            <a:lvl6pPr marL="2286000" indent="0" algn="r" latinLnBrk="0">
              <a:buNone/>
              <a:defRPr lang="he-IL" sz="1000"/>
            </a:lvl6pPr>
            <a:lvl7pPr marL="2743200" indent="0" algn="r" latinLnBrk="0">
              <a:buNone/>
              <a:defRPr lang="he-IL" sz="1000"/>
            </a:lvl7pPr>
            <a:lvl8pPr marL="3200400" indent="0" algn="r" latinLnBrk="0">
              <a:buNone/>
              <a:defRPr lang="he-IL" sz="1000"/>
            </a:lvl8pPr>
            <a:lvl9pPr marL="3657600" indent="0" algn="r" latinLnBrk="0">
              <a:buNone/>
              <a:defRPr lang="he-IL" sz="1000"/>
            </a:lvl9pPr>
          </a:lstStyle>
          <a:p>
            <a:pPr lvl="0" algn="r" rtl="1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7" name="מציין מיקום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  <p:sp>
        <p:nvSpPr>
          <p:cNvPr id="13" name="מלבן 12"/>
          <p:cNvSpPr/>
          <p:nvPr userDrawn="1"/>
        </p:nvSpPr>
        <p:spPr>
          <a:xfrm>
            <a:off x="4433595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15" name="מלבן 14"/>
          <p:cNvSpPr/>
          <p:nvPr userDrawn="1"/>
        </p:nvSpPr>
        <p:spPr>
          <a:xfrm>
            <a:off x="4438684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16" name="מלבן 15"/>
          <p:cNvSpPr/>
          <p:nvPr userDrawn="1"/>
        </p:nvSpPr>
        <p:spPr>
          <a:xfrm>
            <a:off x="4452846" y="0"/>
            <a:ext cx="54864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אנכי 2"/>
          <p:cNvSpPr>
            <a:spLocks noGrp="1"/>
          </p:cNvSpPr>
          <p:nvPr>
            <p:ph type="body" orient="vert" idx="1"/>
          </p:nvPr>
        </p:nvSpPr>
        <p:spPr>
          <a:xfrm flipV="1">
            <a:off x="1295400" y="1828800"/>
            <a:ext cx="9601200" cy="4114800"/>
          </a:xfrm>
        </p:spPr>
        <p:txBody>
          <a:bodyPr vert="eaVert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  <a:endParaRPr lang="he-IL" dirty="0"/>
          </a:p>
        </p:txBody>
      </p:sp>
      <p:sp>
        <p:nvSpPr>
          <p:cNvPr id="4" name="מציין מיקום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5" name="מציין מיקום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וטקסט אנכי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9525000" y="382230"/>
            <a:ext cx="1371600" cy="5561369"/>
          </a:xfrm>
        </p:spPr>
        <p:txBody>
          <a:bodyPr vert="eaVert"/>
          <a:lstStyle/>
          <a:p>
            <a:pPr algn="r" rtl="1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אנכי 2"/>
          <p:cNvSpPr>
            <a:spLocks noGrp="1"/>
          </p:cNvSpPr>
          <p:nvPr>
            <p:ph type="body" orient="vert" idx="1"/>
          </p:nvPr>
        </p:nvSpPr>
        <p:spPr>
          <a:xfrm>
            <a:off x="1295400" y="382230"/>
            <a:ext cx="7863840" cy="5561370"/>
          </a:xfrm>
        </p:spPr>
        <p:txBody>
          <a:bodyPr vert="eaVer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algn="r" rtl="1"/>
            <a:r>
              <a:rPr lang="he-IL"/>
              <a:t>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  <a:endParaRPr lang="he-IL" dirty="0"/>
          </a:p>
        </p:txBody>
      </p:sp>
      <p:sp>
        <p:nvSpPr>
          <p:cNvPr id="4" name="מציין מיקום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5" name="מציין מיקום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E31375A4-56A4-47D6-9801-1991572033F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  <p:sp>
        <p:nvSpPr>
          <p:cNvPr id="2" name="מציין מיקום כותרת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algn="r" rtl="1"/>
            <a:r>
              <a:rPr lang="he-IL" dirty="0"/>
              <a:t>לחץ כדי לערוך סגנונות טקסט של תבנית בסיס</a:t>
            </a:r>
          </a:p>
          <a:p>
            <a:pPr lvl="1" algn="r" rtl="1"/>
            <a:r>
              <a:rPr lang="he-IL" dirty="0"/>
              <a:t>רמה שניה</a:t>
            </a:r>
          </a:p>
          <a:p>
            <a:pPr lvl="2" algn="r" rtl="1"/>
            <a:r>
              <a:rPr lang="he-IL" dirty="0"/>
              <a:t>רמה שלישית</a:t>
            </a:r>
          </a:p>
          <a:p>
            <a:pPr lvl="3" algn="r" rtl="1"/>
            <a:r>
              <a:rPr lang="he-IL" dirty="0"/>
              <a:t>רמה רביעית</a:t>
            </a:r>
          </a:p>
          <a:p>
            <a:pPr lvl="4" algn="r" rtl="1"/>
            <a:r>
              <a:rPr lang="he-IL" dirty="0"/>
              <a:t>רמה חמישית</a:t>
            </a:r>
          </a:p>
        </p:txBody>
      </p:sp>
      <p:sp>
        <p:nvSpPr>
          <p:cNvPr id="4" name="מציין מיקום תאריך 3"/>
          <p:cNvSpPr>
            <a:spLocks noGrp="1"/>
          </p:cNvSpPr>
          <p:nvPr>
            <p:ph type="dt" sz="half" idx="2"/>
          </p:nvPr>
        </p:nvSpPr>
        <p:spPr>
          <a:xfrm>
            <a:off x="2160813" y="6419462"/>
            <a:ext cx="1351383" cy="238902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latinLnBrk="0">
              <a:defRPr lang="he-IL" sz="1000">
                <a:solidFill>
                  <a:schemeClr val="tx1"/>
                </a:solidFill>
                <a:cs typeface="Tahoma" panose="020B0604030504040204" pitchFamily="34" charset="0"/>
              </a:defRPr>
            </a:lvl1pPr>
          </a:lstStyle>
          <a:p>
            <a:pPr rtl="1"/>
            <a:endParaRPr lang="he-IL" dirty="0"/>
          </a:p>
        </p:txBody>
      </p:sp>
      <p:sp>
        <p:nvSpPr>
          <p:cNvPr id="5" name="מציין מיקום כותרת תחתונה 4"/>
          <p:cNvSpPr>
            <a:spLocks noGrp="1"/>
          </p:cNvSpPr>
          <p:nvPr>
            <p:ph type="ftr" sz="quarter" idx="3"/>
          </p:nvPr>
        </p:nvSpPr>
        <p:spPr>
          <a:xfrm>
            <a:off x="5715000" y="6419462"/>
            <a:ext cx="5181600" cy="238902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latinLnBrk="0">
              <a:defRPr lang="he-IL" sz="1000">
                <a:solidFill>
                  <a:schemeClr val="tx1"/>
                </a:solidFill>
                <a:cs typeface="Tahoma" panose="020B0604030504040204" pitchFamily="34" charset="0"/>
              </a:defRPr>
            </a:lvl1pPr>
          </a:lstStyle>
          <a:p>
            <a:pPr rtl="1"/>
            <a:endParaRPr lang="he-IL" dirty="0"/>
          </a:p>
        </p:txBody>
      </p:sp>
      <p:sp>
        <p:nvSpPr>
          <p:cNvPr id="6" name="מציין מיקום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1295400" y="6419462"/>
            <a:ext cx="698241" cy="238902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latinLnBrk="0">
              <a:defRPr lang="he-IL" sz="1000">
                <a:solidFill>
                  <a:schemeClr val="tx1"/>
                </a:solidFill>
                <a:cs typeface="Tahoma" panose="020B0604030504040204" pitchFamily="34" charset="0"/>
              </a:defRPr>
            </a:lvl1pPr>
          </a:lstStyle>
          <a:p>
            <a:fld id="{E31375A4-56A4-47D6-9801-1991572033F7}" type="slidenum">
              <a:rPr lang="he-IL" smtClean="0"/>
              <a:pPr/>
              <a:t>‹#›</a:t>
            </a:fld>
            <a:endParaRPr lang="he-IL" dirty="0"/>
          </a:p>
        </p:txBody>
      </p:sp>
      <p:sp>
        <p:nvSpPr>
          <p:cNvPr id="8" name="מלבן 7"/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he-IL" sz="3200" b="1" kern="1200" cap="all" baseline="0">
          <a:solidFill>
            <a:schemeClr val="accent1"/>
          </a:solidFill>
          <a:effectLst>
            <a:outerShdw blurRad="38100" dist="25400" dir="18900000" algn="bl" rotWithShape="0">
              <a:schemeClr val="bg1">
                <a:alpha val="80000"/>
              </a:schemeClr>
            </a:outerShdw>
          </a:effectLst>
          <a:latin typeface="+mj-lt"/>
          <a:ea typeface="+mj-ea"/>
          <a:cs typeface="Tahoma" panose="020B0604030504040204" pitchFamily="34" charset="0"/>
        </a:defRPr>
      </a:lvl1pPr>
    </p:titleStyle>
    <p:bodyStyle>
      <a:lvl1pPr marL="274320" indent="-228600" algn="r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lang="he-IL" sz="2000" kern="1200">
          <a:solidFill>
            <a:schemeClr val="tx1"/>
          </a:solidFill>
          <a:latin typeface="+mn-lt"/>
          <a:ea typeface="+mn-ea"/>
          <a:cs typeface="Tahoma" panose="020B0604030504040204" pitchFamily="34" charset="0"/>
        </a:defRPr>
      </a:lvl1pPr>
      <a:lvl2pPr marL="594360" indent="-228600" algn="r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lang="he-IL" sz="1800" kern="1200">
          <a:solidFill>
            <a:schemeClr val="tx1"/>
          </a:solidFill>
          <a:latin typeface="+mn-lt"/>
          <a:ea typeface="+mn-ea"/>
          <a:cs typeface="Tahoma" panose="020B0604030504040204" pitchFamily="34" charset="0"/>
        </a:defRPr>
      </a:lvl2pPr>
      <a:lvl3pPr marL="91440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600" kern="1200">
          <a:solidFill>
            <a:schemeClr val="tx1"/>
          </a:solidFill>
          <a:latin typeface="+mn-lt"/>
          <a:ea typeface="+mn-ea"/>
          <a:cs typeface="Tahoma" panose="020B0604030504040204" pitchFamily="34" charset="0"/>
        </a:defRPr>
      </a:lvl3pPr>
      <a:lvl4pPr marL="123444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400" kern="1200">
          <a:solidFill>
            <a:schemeClr val="tx1"/>
          </a:solidFill>
          <a:latin typeface="+mn-lt"/>
          <a:ea typeface="+mn-ea"/>
          <a:cs typeface="Tahoma" panose="020B0604030504040204" pitchFamily="34" charset="0"/>
        </a:defRPr>
      </a:lvl4pPr>
      <a:lvl5pPr marL="155448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400" kern="1200">
          <a:solidFill>
            <a:schemeClr val="tx1"/>
          </a:solidFill>
          <a:latin typeface="+mn-lt"/>
          <a:ea typeface="+mn-ea"/>
          <a:cs typeface="Tahoma" panose="020B0604030504040204" pitchFamily="34" charset="0"/>
        </a:defRPr>
      </a:lvl5pPr>
      <a:lvl6pPr marL="182880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0312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7744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51760" indent="-228600" algn="r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he-IL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0" eaLnBrk="1" latinLnBrk="0" hangingPunct="1">
        <a:defRPr lang="he-I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66800" y="1937072"/>
            <a:ext cx="10058400" cy="1730276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dirty="0"/>
              <a:t>מסדי נתונים ב'</a:t>
            </a:r>
            <a:br>
              <a:rPr lang="he-IL" dirty="0"/>
            </a:br>
            <a:br>
              <a:rPr lang="he-IL" dirty="0"/>
            </a:br>
            <a:r>
              <a:rPr lang="he-IL" sz="3200" dirty="0"/>
              <a:t>פרוצדורות  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-2356047" y="6189045"/>
            <a:ext cx="5009095" cy="403426"/>
          </a:xfrm>
        </p:spPr>
        <p:txBody>
          <a:bodyPr/>
          <a:lstStyle/>
          <a:p>
            <a:pPr algn="r" rtl="1"/>
            <a:r>
              <a:rPr lang="he-IL" dirty="0"/>
              <a:t>תמי צוקרמן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3048" y="3831028"/>
            <a:ext cx="84721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algn="r" rtl="1">
              <a:buFontTx/>
              <a:buChar char="-"/>
            </a:pPr>
            <a:r>
              <a:rPr lang="he-IL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פרוצדורות של קלט, עדכון ומחיקה.</a:t>
            </a:r>
          </a:p>
          <a:p>
            <a:pPr lvl="0" algn="r" rtl="1"/>
            <a:endParaRPr lang="he-IL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buFontTx/>
              <a:buChar char="-"/>
            </a:pPr>
            <a:r>
              <a:rPr lang="he-IL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פרוצדורות עם פרמטרים של פלט.</a:t>
            </a:r>
          </a:p>
          <a:p>
            <a:pPr lvl="0" algn="r" rtl="1"/>
            <a:endParaRPr 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2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3698697" y="1117208"/>
            <a:ext cx="5650786" cy="480131"/>
          </a:xfr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סוגי פרוצדורות לשימוש באפליקציה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49476" y="2527443"/>
            <a:ext cx="1890445" cy="46166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>
                <a:latin typeface="Arial" panose="020B0604020202020204" pitchFamily="34" charset="0"/>
                <a:cs typeface="Arial" panose="020B0604020202020204" pitchFamily="34" charset="0"/>
              </a:rPr>
              <a:t>קלט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5662" y="2527443"/>
            <a:ext cx="1890445" cy="46166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עדכון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3761" y="2527443"/>
            <a:ext cx="1890445" cy="46166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מחיקה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170" y="4078172"/>
            <a:ext cx="6729574" cy="8309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לצורך טיפול בדינמיות של בסיס הנתונים</a:t>
            </a:r>
          </a:p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והצגת תוצאות נדרשות</a:t>
            </a:r>
          </a:p>
        </p:txBody>
      </p:sp>
      <p:cxnSp>
        <p:nvCxnSpPr>
          <p:cNvPr id="9" name="מחבר ישר 8"/>
          <p:cNvCxnSpPr>
            <a:stCxn id="3" idx="2"/>
            <a:endCxn id="4" idx="0"/>
          </p:cNvCxnSpPr>
          <p:nvPr/>
        </p:nvCxnSpPr>
        <p:spPr>
          <a:xfrm>
            <a:off x="6524090" y="1597339"/>
            <a:ext cx="3770609" cy="93010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/>
          <p:cNvCxnSpPr>
            <a:stCxn id="3" idx="2"/>
            <a:endCxn id="5" idx="0"/>
          </p:cNvCxnSpPr>
          <p:nvPr/>
        </p:nvCxnSpPr>
        <p:spPr>
          <a:xfrm>
            <a:off x="6524090" y="1597339"/>
            <a:ext cx="1066795" cy="93010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ישר 11"/>
          <p:cNvCxnSpPr>
            <a:stCxn id="3" idx="2"/>
            <a:endCxn id="6" idx="0"/>
          </p:cNvCxnSpPr>
          <p:nvPr/>
        </p:nvCxnSpPr>
        <p:spPr>
          <a:xfrm flipH="1">
            <a:off x="4958984" y="1597339"/>
            <a:ext cx="1565106" cy="93010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15433" y="2536007"/>
            <a:ext cx="1890445" cy="46166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דוחות</a:t>
            </a:r>
          </a:p>
        </p:txBody>
      </p:sp>
      <p:cxnSp>
        <p:nvCxnSpPr>
          <p:cNvPr id="14" name="מחבר ישר 13"/>
          <p:cNvCxnSpPr>
            <a:stCxn id="3" idx="2"/>
            <a:endCxn id="13" idx="0"/>
          </p:cNvCxnSpPr>
          <p:nvPr/>
        </p:nvCxnSpPr>
        <p:spPr>
          <a:xfrm flipH="1">
            <a:off x="2460656" y="1597339"/>
            <a:ext cx="4063434" cy="93866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77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5215" y="560485"/>
            <a:ext cx="4705417" cy="954107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</a:rPr>
              <a:t>דוגמא לטופס באפליקציה של קליטת סטודנט חדש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he-IL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מלבן מעוגל 4"/>
          <p:cNvSpPr/>
          <p:nvPr/>
        </p:nvSpPr>
        <p:spPr>
          <a:xfrm>
            <a:off x="5053577" y="4607364"/>
            <a:ext cx="1636295" cy="80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/>
              <a:t>אשר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1778" y="1938130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ת.ז: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4256" y="1938130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6246746" y="2540878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שם משפחה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224" y="2540878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10" name="TextBox 9"/>
          <p:cNvSpPr txBox="1"/>
          <p:nvPr/>
        </p:nvSpPr>
        <p:spPr>
          <a:xfrm>
            <a:off x="6231836" y="3129430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שם פרטי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131" y="3129430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12" name="TextBox 11"/>
          <p:cNvSpPr txBox="1"/>
          <p:nvPr/>
        </p:nvSpPr>
        <p:spPr>
          <a:xfrm>
            <a:off x="6261654" y="3745971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טלפון נייד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132" y="3745971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cxnSp>
        <p:nvCxnSpPr>
          <p:cNvPr id="15" name="מחבר חץ ישר 14"/>
          <p:cNvCxnSpPr>
            <a:endCxn id="5" idx="1"/>
          </p:cNvCxnSpPr>
          <p:nvPr/>
        </p:nvCxnSpPr>
        <p:spPr>
          <a:xfrm>
            <a:off x="2643809" y="4721087"/>
            <a:ext cx="2409768" cy="2905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8661" y="4536421"/>
            <a:ext cx="2425148" cy="646331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באירוע "בעת לחיצה"</a:t>
            </a:r>
          </a:p>
          <a:p>
            <a:pPr algn="ctr"/>
            <a:r>
              <a:rPr lang="he-IL" dirty="0"/>
              <a:t>תופעל הפרוצדורה</a:t>
            </a:r>
          </a:p>
        </p:txBody>
      </p:sp>
      <p:cxnSp>
        <p:nvCxnSpPr>
          <p:cNvPr id="17" name="מחבר חץ ישר 16"/>
          <p:cNvCxnSpPr>
            <a:endCxn id="4" idx="1"/>
          </p:cNvCxnSpPr>
          <p:nvPr/>
        </p:nvCxnSpPr>
        <p:spPr>
          <a:xfrm>
            <a:off x="2643809" y="907269"/>
            <a:ext cx="911406" cy="130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8661" y="722603"/>
            <a:ext cx="2425148" cy="923330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טופס באפליקציה שמקושרת לבסיס הנתונים המתאים</a:t>
            </a:r>
          </a:p>
        </p:txBody>
      </p:sp>
    </p:spTree>
    <p:extLst>
      <p:ext uri="{BB962C8B-B14F-4D97-AF65-F5344CB8AC3E}">
        <p14:creationId xmlns:p14="http://schemas.microsoft.com/office/powerpoint/2010/main" val="26741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מלבן 31"/>
          <p:cNvSpPr/>
          <p:nvPr/>
        </p:nvSpPr>
        <p:spPr>
          <a:xfrm>
            <a:off x="1900719" y="3924450"/>
            <a:ext cx="8599470" cy="1089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3133649" y="303635"/>
            <a:ext cx="7223135" cy="523220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</a:rPr>
              <a:t>דוגמא לטופס באפליקציה של הפקת דוחות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1777" y="1917582"/>
            <a:ext cx="3272093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יש לבחור מחלקה מתוך הרשימה</a:t>
            </a:r>
          </a:p>
        </p:txBody>
      </p:sp>
      <p:cxnSp>
        <p:nvCxnSpPr>
          <p:cNvPr id="15" name="מחבר חץ ישר 14"/>
          <p:cNvCxnSpPr>
            <a:stCxn id="16" idx="3"/>
          </p:cNvCxnSpPr>
          <p:nvPr/>
        </p:nvCxnSpPr>
        <p:spPr>
          <a:xfrm>
            <a:off x="3586037" y="2045870"/>
            <a:ext cx="677738" cy="4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8660" y="1445705"/>
            <a:ext cx="3367377" cy="1200329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dirty="0">
                <a:solidFill>
                  <a:srgbClr val="FF0000"/>
                </a:solidFill>
              </a:rPr>
              <a:t>באירוע "לאחר עדכון" תופעל פרוצדורה מתאימה עם</a:t>
            </a:r>
          </a:p>
          <a:p>
            <a:pPr algn="ctr" rtl="1"/>
            <a:r>
              <a:rPr lang="he-IL" dirty="0">
                <a:solidFill>
                  <a:srgbClr val="FF0000"/>
                </a:solidFill>
              </a:rPr>
              <a:t>ערך של מס. מחלקה שנבחרה. ערך זה יולבש על פרמטר הקלט שלה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he-IL" dirty="0">
              <a:solidFill>
                <a:srgbClr val="FF0000"/>
              </a:solidFill>
            </a:endParaRPr>
          </a:p>
        </p:txBody>
      </p:sp>
      <p:cxnSp>
        <p:nvCxnSpPr>
          <p:cNvPr id="17" name="מחבר חץ ישר 16"/>
          <p:cNvCxnSpPr>
            <a:stCxn id="18" idx="3"/>
            <a:endCxn id="19" idx="1"/>
          </p:cNvCxnSpPr>
          <p:nvPr/>
        </p:nvCxnSpPr>
        <p:spPr>
          <a:xfrm>
            <a:off x="2643809" y="763034"/>
            <a:ext cx="1633592" cy="4941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8661" y="301369"/>
            <a:ext cx="2425148" cy="923330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טופס באפליקציה שמקושרת לבסיס הנתונים המתאים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 rotWithShape="1">
          <a:blip r:embed="rId2"/>
          <a:srcRect l="46944" t="32326" b="13629"/>
          <a:stretch/>
        </p:blipFill>
        <p:spPr>
          <a:xfrm>
            <a:off x="4263775" y="1914547"/>
            <a:ext cx="1625653" cy="40741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77401" y="1072468"/>
            <a:ext cx="4623013" cy="369332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b="1" dirty="0">
                <a:solidFill>
                  <a:schemeClr val="accent1">
                    <a:lumMod val="75000"/>
                  </a:schemeClr>
                </a:solidFill>
              </a:rPr>
              <a:t>דו"ח ממוצע ציונים לפי מחלקה נבחרת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7969" y="4037733"/>
            <a:ext cx="13048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מס. מחלקה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9655" y="4037733"/>
            <a:ext cx="13048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שם מחלקה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5701" y="4037733"/>
            <a:ext cx="205438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ממוצע ציונים </a:t>
            </a:r>
            <a:r>
              <a:rPr lang="he-IL" b="1" dirty="0" err="1">
                <a:latin typeface="Arial" panose="020B0604020202020204" pitchFamily="34" charset="0"/>
                <a:cs typeface="Arial" panose="020B0604020202020204" pitchFamily="34" charset="0"/>
              </a:rPr>
              <a:t>סמ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' א'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1478" y="4032190"/>
            <a:ext cx="205438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ממוצע ציונים </a:t>
            </a:r>
            <a:r>
              <a:rPr lang="he-IL" b="1" dirty="0" err="1">
                <a:latin typeface="Arial" panose="020B0604020202020204" pitchFamily="34" charset="0"/>
                <a:cs typeface="Arial" panose="020B0604020202020204" pitchFamily="34" charset="0"/>
              </a:rPr>
              <a:t>סמ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' ב'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7970" y="4510343"/>
            <a:ext cx="1222624" cy="3759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732" y="4510342"/>
            <a:ext cx="223849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מחשבים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3243" y="4510342"/>
            <a:ext cx="1222624" cy="3759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78.89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7862" y="4510341"/>
            <a:ext cx="1222624" cy="3759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74.67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3223" y="3565392"/>
            <a:ext cx="4116961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אם נבחרה מחלקה מס. 21 הפלט יראה כך:</a:t>
            </a:r>
          </a:p>
        </p:txBody>
      </p:sp>
      <p:sp>
        <p:nvSpPr>
          <p:cNvPr id="33" name="מלבן 32"/>
          <p:cNvSpPr/>
          <p:nvPr/>
        </p:nvSpPr>
        <p:spPr>
          <a:xfrm>
            <a:off x="1900714" y="5636554"/>
            <a:ext cx="8599470" cy="1089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TextBox 33"/>
          <p:cNvSpPr txBox="1"/>
          <p:nvPr/>
        </p:nvSpPr>
        <p:spPr>
          <a:xfrm>
            <a:off x="8917964" y="5749837"/>
            <a:ext cx="13048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מס. מחלקה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9650" y="5749837"/>
            <a:ext cx="13048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שם מחלקה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5696" y="5749837"/>
            <a:ext cx="205438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ממוצע ציונים </a:t>
            </a:r>
            <a:r>
              <a:rPr lang="he-IL" b="1" dirty="0" err="1">
                <a:latin typeface="Arial" panose="020B0604020202020204" pitchFamily="34" charset="0"/>
                <a:cs typeface="Arial" panose="020B0604020202020204" pitchFamily="34" charset="0"/>
              </a:rPr>
              <a:t>סמ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' א'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81473" y="5744294"/>
            <a:ext cx="205438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ממוצע ציונים </a:t>
            </a:r>
            <a:r>
              <a:rPr lang="he-IL" b="1" dirty="0" err="1">
                <a:latin typeface="Arial" panose="020B0604020202020204" pitchFamily="34" charset="0"/>
                <a:cs typeface="Arial" panose="020B0604020202020204" pitchFamily="34" charset="0"/>
              </a:rPr>
              <a:t>סמ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' ב'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7965" y="6222447"/>
            <a:ext cx="1222624" cy="3759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22</a:t>
            </a:r>
            <a:endParaRPr lang="he-IL" dirty="0"/>
          </a:p>
        </p:txBody>
      </p:sp>
      <p:sp>
        <p:nvSpPr>
          <p:cNvPr id="39" name="TextBox 38"/>
          <p:cNvSpPr txBox="1"/>
          <p:nvPr/>
        </p:nvSpPr>
        <p:spPr>
          <a:xfrm>
            <a:off x="6451727" y="6222446"/>
            <a:ext cx="223849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מנהל עסקים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3238" y="6222446"/>
            <a:ext cx="1222624" cy="3759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7857" y="6222445"/>
            <a:ext cx="1222624" cy="3759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46.50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3218" y="5277496"/>
            <a:ext cx="4116961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אם נבחרה מחלקה מס. 22 הפלט יראה כך: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0713" y="2844407"/>
            <a:ext cx="8599465" cy="646331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dirty="0">
                <a:solidFill>
                  <a:srgbClr val="FF0000"/>
                </a:solidFill>
              </a:rPr>
              <a:t>הפרוצדורה תחזיר לאפליקציה מבסיס הנתונים את הנתונים הרלוונטיים ארוזים בתוך אובייקט זמני שמתעדכן לפי הבחירה שנעשתה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F759C88-BB01-4515-A8EA-A9B5B8BDA590}"/>
              </a:ext>
            </a:extLst>
          </p:cNvPr>
          <p:cNvSpPr txBox="1"/>
          <p:nvPr/>
        </p:nvSpPr>
        <p:spPr>
          <a:xfrm>
            <a:off x="4941513" y="1914547"/>
            <a:ext cx="8088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21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7865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61470" y="412123"/>
            <a:ext cx="80577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פקודות יצירה, עדכון ומחיקה ב –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T-SQL</a:t>
            </a:r>
            <a:endParaRPr lang="he-IL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72349" y="4638003"/>
            <a:ext cx="3243263" cy="156966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יצירה   - 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</a:p>
          <a:p>
            <a:pPr algn="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עדכון   -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    </a:t>
            </a:r>
          </a:p>
          <a:p>
            <a:pPr algn="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 -    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8502" y="4612245"/>
            <a:ext cx="3312483" cy="156966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יצירה    -  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</a:t>
            </a:r>
          </a:p>
          <a:p>
            <a:pPr algn="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עדכון    -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  -  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86411" y="4095483"/>
            <a:ext cx="36962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עבודה על </a:t>
            </a:r>
            <a:r>
              <a:rPr lang="he-IL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אובייקטים</a:t>
            </a:r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DDL</a:t>
            </a:r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470" y="4054698"/>
            <a:ext cx="351029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e-IL" dirty="0"/>
              <a:t>עבודה על </a:t>
            </a:r>
            <a:r>
              <a:rPr lang="he-IL" dirty="0">
                <a:solidFill>
                  <a:srgbClr val="C00000"/>
                </a:solidFill>
              </a:rPr>
              <a:t>נתונים</a:t>
            </a:r>
            <a:r>
              <a:rPr lang="he-IL" dirty="0"/>
              <a:t> (</a:t>
            </a:r>
            <a:r>
              <a:rPr lang="en-US" dirty="0"/>
              <a:t>DML</a:t>
            </a:r>
            <a:r>
              <a:rPr lang="he-IL" dirty="0"/>
              <a:t>)</a:t>
            </a:r>
          </a:p>
        </p:txBody>
      </p:sp>
      <p:sp>
        <p:nvSpPr>
          <p:cNvPr id="8" name="מלבן 7"/>
          <p:cNvSpPr/>
          <p:nvPr/>
        </p:nvSpPr>
        <p:spPr>
          <a:xfrm>
            <a:off x="244700" y="1458396"/>
            <a:ext cx="1166825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228600" indent="-228600" algn="r" rtl="1">
              <a:spcAft>
                <a:spcPts val="0"/>
              </a:spcAft>
              <a:tabLst>
                <a:tab pos="228600" algn="l"/>
                <a:tab pos="457200" algn="l"/>
              </a:tabLst>
            </a:pP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שלושה סוגים של משפטים בשפת ה-  </a:t>
            </a: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T-SQL </a:t>
            </a: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228600" marR="228600" indent="-228600" algn="r" rtl="1"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R="228600" lvl="0" algn="r" rtl="1">
              <a:lnSpc>
                <a:spcPct val="150000"/>
              </a:lnSpc>
              <a:spcAft>
                <a:spcPts val="0"/>
              </a:spcAft>
              <a:tabLst>
                <a:tab pos="228600" algn="l"/>
                <a:tab pos="457200" algn="l"/>
              </a:tabLst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DDL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–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ata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efinition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anguage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– פקודות ליצירה / שינוי / מחיקה של </a:t>
            </a:r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אובייקטים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מסוגים שונים.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R="228600" lvl="0" algn="r" rtl="1">
              <a:lnSpc>
                <a:spcPct val="150000"/>
              </a:lnSpc>
              <a:spcAft>
                <a:spcPts val="0"/>
              </a:spcAft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DCL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–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ata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C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ontrol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anguage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– פקודות לטיפול ב</a:t>
            </a:r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הרשאות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(מתן הרשאה חיובית / שלילית והסרת הרשאה).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R="228600" lvl="0" algn="r" rtl="1">
              <a:lnSpc>
                <a:spcPct val="150000"/>
              </a:lnSpc>
              <a:spcAft>
                <a:spcPts val="0"/>
              </a:spcAft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DML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–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D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ata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anipulation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anguage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– פקודות לטיפול בשליפה / הוספה / עדכון ומחיקת </a:t>
            </a:r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נתונים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David" panose="020E0502060401010101" pitchFamily="34" charset="-79"/>
              </a:rPr>
              <a:t> ממסד הנתונים.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                               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631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83177" y="807223"/>
            <a:ext cx="11234058" cy="517064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endParaRPr lang="he-IL" sz="10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פקודת </a:t>
            </a: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INSERT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הפקודה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מאפשרת לקלוט תוכן שורה בודדת של נתונים או קבוצת שורות בו זמנית.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מבנה</a:t>
            </a: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הפקודה: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tabLst>
                <a:tab pos="4572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INSERT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(Field1  , Field2  , ………..)  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VALUES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(Value1 , Value2 , ………..) </a:t>
            </a:r>
          </a:p>
          <a:p>
            <a:pPr lvl="0">
              <a:tabLst>
                <a:tab pos="457200" algn="l"/>
              </a:tabLst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algn="r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 לפרוצדורה של קלט:</a:t>
            </a:r>
            <a:endParaRPr lang="en-US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600" dirty="0"/>
              <a:t>    </a:t>
            </a:r>
            <a:r>
              <a:rPr lang="en-US" sz="1600" b="1" dirty="0">
                <a:solidFill>
                  <a:srgbClr val="FF0000"/>
                </a:solidFill>
              </a:rPr>
              <a:t>CREATE  PROC  </a:t>
            </a:r>
            <a:r>
              <a:rPr lang="en-US" sz="1600" dirty="0" err="1"/>
              <a:t>Proc_Insert_New_Customer</a:t>
            </a:r>
            <a:endParaRPr lang="en-US" sz="1600" dirty="0"/>
          </a:p>
          <a:p>
            <a:r>
              <a:rPr lang="en-US" sz="1600" dirty="0"/>
              <a:t>       @</a:t>
            </a:r>
            <a:r>
              <a:rPr lang="en-US" sz="1600" dirty="0" err="1"/>
              <a:t>customer_ID_P</a:t>
            </a:r>
            <a:r>
              <a:rPr lang="en-US" sz="1600" dirty="0"/>
              <a:t> char(5) , @</a:t>
            </a:r>
            <a:r>
              <a:rPr lang="en-US" sz="1600" dirty="0" err="1"/>
              <a:t>customer_Name_P</a:t>
            </a:r>
            <a:r>
              <a:rPr lang="en-US" sz="1600" dirty="0"/>
              <a:t>  </a:t>
            </a:r>
            <a:r>
              <a:rPr lang="en-US" sz="1600" dirty="0" err="1"/>
              <a:t>nvarchar</a:t>
            </a:r>
            <a:r>
              <a:rPr lang="en-US" sz="1600" dirty="0"/>
              <a:t>(20) , @</a:t>
            </a:r>
            <a:r>
              <a:rPr lang="en-US" sz="1600" dirty="0" err="1"/>
              <a:t>Street_Name_P</a:t>
            </a:r>
            <a:r>
              <a:rPr lang="en-US" sz="1600" dirty="0"/>
              <a:t>  </a:t>
            </a:r>
            <a:r>
              <a:rPr lang="en-US" sz="1600" dirty="0" err="1"/>
              <a:t>nvarchar</a:t>
            </a:r>
            <a:r>
              <a:rPr lang="en-US" sz="1600" dirty="0"/>
              <a:t> (30) ,</a:t>
            </a:r>
          </a:p>
          <a:p>
            <a:r>
              <a:rPr lang="en-US" sz="1600" dirty="0"/>
              <a:t>       @</a:t>
            </a:r>
            <a:r>
              <a:rPr lang="en-US" sz="1600" dirty="0" err="1"/>
              <a:t>Street_No_P</a:t>
            </a:r>
            <a:r>
              <a:rPr lang="en-US" sz="1600" dirty="0"/>
              <a:t>  </a:t>
            </a:r>
            <a:r>
              <a:rPr lang="en-US" sz="1600" dirty="0" err="1"/>
              <a:t>int</a:t>
            </a:r>
            <a:r>
              <a:rPr lang="en-US" sz="1600" dirty="0"/>
              <a:t>  , @</a:t>
            </a:r>
            <a:r>
              <a:rPr lang="en-US" sz="1600" dirty="0" err="1"/>
              <a:t>House_No_P</a:t>
            </a:r>
            <a:r>
              <a:rPr lang="en-US" sz="1600" dirty="0"/>
              <a:t>  </a:t>
            </a:r>
            <a:r>
              <a:rPr lang="en-US" sz="1600" dirty="0" err="1"/>
              <a:t>int</a:t>
            </a:r>
            <a:r>
              <a:rPr lang="en-US" sz="1600" dirty="0"/>
              <a:t>  , @</a:t>
            </a:r>
            <a:r>
              <a:rPr lang="en-US" sz="1600" dirty="0" err="1"/>
              <a:t>Zip_Code_P</a:t>
            </a:r>
            <a:r>
              <a:rPr lang="en-US" sz="1600" dirty="0"/>
              <a:t>  char(5) </a:t>
            </a:r>
          </a:p>
          <a:p>
            <a:r>
              <a:rPr lang="en-US" sz="1600" dirty="0"/>
              <a:t>   </a:t>
            </a:r>
            <a:r>
              <a:rPr lang="en-US" sz="1600" b="1" dirty="0"/>
              <a:t>AS</a:t>
            </a:r>
          </a:p>
          <a:p>
            <a:r>
              <a:rPr lang="en-US" sz="1600" dirty="0"/>
              <a:t>      </a:t>
            </a:r>
            <a:r>
              <a:rPr lang="en-US" sz="1600" b="1" dirty="0">
                <a:solidFill>
                  <a:srgbClr val="FF0000"/>
                </a:solidFill>
              </a:rPr>
              <a:t>INSERT</a:t>
            </a:r>
            <a:r>
              <a:rPr lang="en-US" sz="1600" dirty="0"/>
              <a:t>    Customers  ( </a:t>
            </a:r>
            <a:r>
              <a:rPr lang="en-US" sz="1600" dirty="0" err="1"/>
              <a:t>Customer_ID</a:t>
            </a:r>
            <a:r>
              <a:rPr lang="en-US" sz="1600" dirty="0"/>
              <a:t>,   </a:t>
            </a:r>
            <a:r>
              <a:rPr lang="en-US" sz="1600" dirty="0" err="1"/>
              <a:t>Customer_Name</a:t>
            </a:r>
            <a:r>
              <a:rPr lang="en-US" sz="1600" dirty="0"/>
              <a:t>,    </a:t>
            </a:r>
            <a:r>
              <a:rPr lang="en-US" sz="1600" dirty="0" err="1"/>
              <a:t>Street_Name</a:t>
            </a:r>
            <a:r>
              <a:rPr lang="en-US" sz="1600" dirty="0"/>
              <a:t>,         </a:t>
            </a:r>
            <a:r>
              <a:rPr lang="en-US" sz="1600" dirty="0" err="1"/>
              <a:t>Street_No</a:t>
            </a:r>
            <a:r>
              <a:rPr lang="en-US" sz="1600" dirty="0"/>
              <a:t>,         </a:t>
            </a:r>
            <a:r>
              <a:rPr lang="en-US" sz="1600" dirty="0" err="1"/>
              <a:t>House_No</a:t>
            </a:r>
            <a:r>
              <a:rPr lang="en-US" sz="1600" dirty="0"/>
              <a:t>,      </a:t>
            </a:r>
            <a:r>
              <a:rPr lang="en-US" sz="1600" dirty="0" err="1"/>
              <a:t>Zip_Code</a:t>
            </a:r>
            <a:r>
              <a:rPr lang="en-US" sz="1600" dirty="0"/>
              <a:t> )</a:t>
            </a:r>
          </a:p>
          <a:p>
            <a:r>
              <a:rPr lang="en-US" sz="1600" dirty="0"/>
              <a:t>      </a:t>
            </a:r>
            <a:r>
              <a:rPr lang="en-US" sz="1600" b="1" dirty="0">
                <a:solidFill>
                  <a:srgbClr val="FF0000"/>
                </a:solidFill>
              </a:rPr>
              <a:t>VALUES</a:t>
            </a:r>
            <a:r>
              <a:rPr lang="en-US" sz="1600" dirty="0"/>
              <a:t>       ( </a:t>
            </a:r>
            <a:r>
              <a:rPr lang="en-US" sz="1400" dirty="0"/>
              <a:t>@</a:t>
            </a:r>
            <a:r>
              <a:rPr lang="en-US" sz="1400" dirty="0" err="1"/>
              <a:t>customer_ID_P</a:t>
            </a:r>
            <a:r>
              <a:rPr lang="en-US" sz="1400" dirty="0"/>
              <a:t>,  @</a:t>
            </a:r>
            <a:r>
              <a:rPr lang="en-US" sz="1400" dirty="0" err="1"/>
              <a:t>customer_Name_P</a:t>
            </a:r>
            <a:r>
              <a:rPr lang="en-US" sz="1400" dirty="0"/>
              <a:t>,  @</a:t>
            </a:r>
            <a:r>
              <a:rPr lang="en-US" sz="1400" dirty="0" err="1"/>
              <a:t>Street_Name_P</a:t>
            </a:r>
            <a:r>
              <a:rPr lang="en-US" sz="1400" dirty="0"/>
              <a:t>,  @</a:t>
            </a:r>
            <a:r>
              <a:rPr lang="en-US" sz="1400" dirty="0" err="1"/>
              <a:t>Street_No_P</a:t>
            </a:r>
            <a:r>
              <a:rPr lang="en-US" sz="1400" dirty="0"/>
              <a:t>,  @</a:t>
            </a:r>
            <a:r>
              <a:rPr lang="en-US" sz="1400" dirty="0" err="1"/>
              <a:t>House_No_P</a:t>
            </a:r>
            <a:r>
              <a:rPr lang="en-US" sz="1400" dirty="0"/>
              <a:t>,  @</a:t>
            </a:r>
            <a:r>
              <a:rPr lang="en-US" sz="1400" dirty="0" err="1"/>
              <a:t>Zip_Code_Parm</a:t>
            </a:r>
            <a:r>
              <a:rPr lang="en-US" sz="1600" dirty="0"/>
              <a:t> )</a:t>
            </a:r>
          </a:p>
          <a:p>
            <a:r>
              <a:rPr lang="en-US" sz="1600" dirty="0"/>
              <a:t>   </a:t>
            </a:r>
            <a:r>
              <a:rPr lang="en-US" sz="1600" b="1" dirty="0"/>
              <a:t>GO </a:t>
            </a:r>
          </a:p>
          <a:p>
            <a:endParaRPr lang="he-IL" sz="1600" dirty="0"/>
          </a:p>
          <a:p>
            <a:r>
              <a:rPr lang="en-US" sz="1600" dirty="0"/>
              <a:t>   --  </a:t>
            </a:r>
            <a:r>
              <a:rPr lang="en-US" sz="1600" b="1" u="sng" dirty="0"/>
              <a:t>SQL </a:t>
            </a:r>
            <a:r>
              <a:rPr lang="he-IL" sz="1600" b="1" u="sng" dirty="0"/>
              <a:t>דוגמא להרצה מסביבת </a:t>
            </a:r>
          </a:p>
          <a:p>
            <a:r>
              <a:rPr lang="en-US" sz="1600" dirty="0"/>
              <a:t>   </a:t>
            </a:r>
            <a:r>
              <a:rPr lang="en-US" sz="1600" b="1" dirty="0">
                <a:solidFill>
                  <a:srgbClr val="FF0000"/>
                </a:solidFill>
              </a:rPr>
              <a:t>EXEC</a:t>
            </a:r>
            <a:r>
              <a:rPr lang="en-US" sz="1600" b="1" dirty="0"/>
              <a:t> </a:t>
            </a:r>
            <a:r>
              <a:rPr lang="en-US" sz="1600" dirty="0"/>
              <a:t> </a:t>
            </a:r>
            <a:r>
              <a:rPr lang="en-US" sz="1600" dirty="0" err="1"/>
              <a:t>Proc_Insert_New_Customer</a:t>
            </a:r>
            <a:r>
              <a:rPr lang="en-US" sz="1600" dirty="0"/>
              <a:t>  '11111‘ , 'Levi‘ , ‘</a:t>
            </a:r>
            <a:r>
              <a:rPr lang="en-US" sz="1600" dirty="0" err="1"/>
              <a:t>Haprachim</a:t>
            </a:r>
            <a:r>
              <a:rPr lang="en-US" sz="1600" dirty="0"/>
              <a:t>‘ , 12 , 22 , '55555'</a:t>
            </a:r>
          </a:p>
          <a:p>
            <a:r>
              <a:rPr lang="en-US" sz="1600" b="1" dirty="0"/>
              <a:t>   GO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endParaRPr lang="he-IL" sz="1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3890" y="167422"/>
            <a:ext cx="80577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Procedure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he-IL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פרוצדורת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קלט</a:t>
            </a:r>
          </a:p>
        </p:txBody>
      </p:sp>
    </p:spTree>
    <p:extLst>
      <p:ext uri="{BB962C8B-B14F-4D97-AF65-F5344CB8AC3E}">
        <p14:creationId xmlns:p14="http://schemas.microsoft.com/office/powerpoint/2010/main" val="8588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5215" y="560485"/>
            <a:ext cx="4705417" cy="954107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</a:rPr>
              <a:t>דוגמא לטופס של קליטת סטודנט חדש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he-IL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מלבן מעוגל 4"/>
          <p:cNvSpPr/>
          <p:nvPr/>
        </p:nvSpPr>
        <p:spPr>
          <a:xfrm>
            <a:off x="5053577" y="4607364"/>
            <a:ext cx="1636295" cy="80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/>
              <a:t>אשר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1778" y="1938130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ת.ז: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4256" y="1938130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6246746" y="2540878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שם משפחה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224" y="2540878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10" name="TextBox 9"/>
          <p:cNvSpPr txBox="1"/>
          <p:nvPr/>
        </p:nvSpPr>
        <p:spPr>
          <a:xfrm>
            <a:off x="6231836" y="3129430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שם פרטי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131" y="3129430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12" name="TextBox 11"/>
          <p:cNvSpPr txBox="1"/>
          <p:nvPr/>
        </p:nvSpPr>
        <p:spPr>
          <a:xfrm>
            <a:off x="6261654" y="3745971"/>
            <a:ext cx="1341782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טלפון נייד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132" y="3745971"/>
            <a:ext cx="18188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cxnSp>
        <p:nvCxnSpPr>
          <p:cNvPr id="15" name="מחבר חץ ישר 14"/>
          <p:cNvCxnSpPr>
            <a:endCxn id="5" idx="1"/>
          </p:cNvCxnSpPr>
          <p:nvPr/>
        </p:nvCxnSpPr>
        <p:spPr>
          <a:xfrm>
            <a:off x="2643809" y="4721087"/>
            <a:ext cx="2409768" cy="2905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8661" y="4536421"/>
            <a:ext cx="2425148" cy="646331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באירוע "בעת לחיצה"</a:t>
            </a:r>
          </a:p>
          <a:p>
            <a:pPr algn="ctr"/>
            <a:r>
              <a:rPr lang="he-IL" dirty="0"/>
              <a:t>תופעל הפרוצדורה</a:t>
            </a:r>
          </a:p>
        </p:txBody>
      </p:sp>
      <p:cxnSp>
        <p:nvCxnSpPr>
          <p:cNvPr id="17" name="מחבר חץ ישר 16"/>
          <p:cNvCxnSpPr>
            <a:endCxn id="4" idx="1"/>
          </p:cNvCxnSpPr>
          <p:nvPr/>
        </p:nvCxnSpPr>
        <p:spPr>
          <a:xfrm>
            <a:off x="2643809" y="907269"/>
            <a:ext cx="911406" cy="130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8661" y="722603"/>
            <a:ext cx="2425148" cy="923330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טופס באפליקציה שמקושרת לבסיס הנתונים המתאים</a:t>
            </a:r>
          </a:p>
        </p:txBody>
      </p:sp>
    </p:spTree>
    <p:extLst>
      <p:ext uri="{BB962C8B-B14F-4D97-AF65-F5344CB8AC3E}">
        <p14:creationId xmlns:p14="http://schemas.microsoft.com/office/powerpoint/2010/main" val="7269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295026" y="807223"/>
            <a:ext cx="9875478" cy="5816977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endParaRPr lang="he-IL" sz="10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פקודת </a:t>
            </a: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הפקודה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מאפשרת עדכון תוכן שורה בודדת של נתונים או קבוצת שורות בו זמנית המקיימות תנאי מסוים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מבנה</a:t>
            </a: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הפקודה: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tabLst>
                <a:tab pos="4572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table_name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column_name1 = value or expression, …</a:t>
            </a:r>
          </a:p>
          <a:p>
            <a:pPr marL="457200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column_name2 = value or expression</a:t>
            </a: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predicate</a:t>
            </a:r>
          </a:p>
          <a:p>
            <a:pPr marL="457200"/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algn="r" rtl="1">
              <a:spcAft>
                <a:spcPts val="0"/>
              </a:spcAft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שינוי שמו הפרטי של עובד מס' 1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dbo.Employees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SET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FirstName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'mike'</a:t>
            </a: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WHERE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EmployeeID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'1‘</a:t>
            </a:r>
          </a:p>
          <a:p>
            <a:pPr rtl="1"/>
            <a:endParaRPr lang="he-I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Bef>
                <a:spcPts val="1200"/>
              </a:spcBef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-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 נוספת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הוספת 5 ימים לתאריך האספקה המיועד של הזמנה מס' 10250 ועובד מס' 4.</a:t>
            </a:r>
            <a:endParaRPr lang="en-US" dirty="0"/>
          </a:p>
          <a:p>
            <a:pPr marL="457200"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dbo.Orders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      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RequiredDate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RequiredDate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+ 5 </a:t>
            </a: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OrderID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'10250'  AND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EmployeeID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'4'</a:t>
            </a:r>
            <a:endParaRPr lang="en-US" dirty="0"/>
          </a:p>
          <a:p>
            <a:pPr marL="457200"/>
            <a:endParaRPr lang="he-IL" sz="1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3890" y="167422"/>
            <a:ext cx="80577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Procedure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he-IL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פרוצדורת עדכון</a:t>
            </a:r>
          </a:p>
        </p:txBody>
      </p:sp>
    </p:spTree>
    <p:extLst>
      <p:ext uri="{BB962C8B-B14F-4D97-AF65-F5344CB8AC3E}">
        <p14:creationId xmlns:p14="http://schemas.microsoft.com/office/powerpoint/2010/main" val="373169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5723" y="142058"/>
            <a:ext cx="80577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שימוש בפרוצדורה לעדכון נתונים </a:t>
            </a:r>
          </a:p>
        </p:txBody>
      </p:sp>
      <p:sp>
        <p:nvSpPr>
          <p:cNvPr id="3" name="מלבן 2"/>
          <p:cNvSpPr/>
          <p:nvPr/>
        </p:nvSpPr>
        <p:spPr>
          <a:xfrm>
            <a:off x="3548781" y="821362"/>
            <a:ext cx="5680932" cy="2646878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 PROC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Example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@Name1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@Name2 Varchar(20)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@Name3 Varchar(20)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TableName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Name2=@Name2 , Name3=@Name3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Name1=@Name1</a:t>
            </a:r>
          </a:p>
          <a:p>
            <a:pPr>
              <a:spcAft>
                <a:spcPts val="0"/>
              </a:spcAft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</a:t>
            </a:r>
            <a:endParaRPr lang="en-US" sz="16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72642" y="935666"/>
            <a:ext cx="181451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מבנה הפקודה: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11" y="3716971"/>
            <a:ext cx="181451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דוגמא:</a:t>
            </a: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6" name="מלבן 5"/>
          <p:cNvSpPr/>
          <p:nvPr/>
        </p:nvSpPr>
        <p:spPr>
          <a:xfrm>
            <a:off x="3538902" y="3555887"/>
            <a:ext cx="5690811" cy="3170099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 PROC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UpdateEmployeePhone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@EmployeeID_1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@HomePhone_2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Nvarchar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(24)  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Employees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HomePhone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@HomePhone_2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WHERE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EmployeeID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@EmployeeID_1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GO                                                                            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הפעלת הפרוצדורה:                                                      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EXEC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UpdateEmployeePhone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1,’09899999’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309907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973" y="142058"/>
            <a:ext cx="80577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(פיזית ולוגית)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7500" y="1153191"/>
            <a:ext cx="9240961" cy="2185214"/>
          </a:xfrm>
          <a:prstGeom prst="rect">
            <a:avLst/>
          </a:prstGeom>
          <a:noFill/>
          <a:ln w="19050">
            <a:solidFill>
              <a:schemeClr val="tx2">
                <a:lumMod val="85000"/>
                <a:lumOff val="15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e-IL" sz="28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 פיזית</a:t>
            </a:r>
          </a:p>
          <a:p>
            <a:pPr algn="r" rtl="1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 של רשומות מתוך טבלה או טבלאות (לא מומלץ !!)</a:t>
            </a:r>
          </a:p>
          <a:p>
            <a:pPr algn="r" rtl="1"/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he-IL" sz="2000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לדוגמא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   </a:t>
            </a: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DELETE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Marks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Where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Mark_Sem_A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40</a:t>
            </a:r>
            <a:endParaRPr lang="he-IL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7500" y="3764763"/>
            <a:ext cx="9240961" cy="2800767"/>
          </a:xfrm>
          <a:prstGeom prst="rect">
            <a:avLst/>
          </a:prstGeom>
          <a:noFill/>
          <a:ln w="19050">
            <a:solidFill>
              <a:schemeClr val="tx2">
                <a:lumMod val="85000"/>
                <a:lumOff val="15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e-IL" sz="28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 לוגית</a:t>
            </a:r>
          </a:p>
          <a:p>
            <a:pPr algn="r" rtl="1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e-IL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סימון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בעזרת שדה מתאים את הסטטוס של הרשומה (למשל: פעיל, לא פעיל, מחוק </a:t>
            </a:r>
            <a:r>
              <a:rPr lang="he-IL" sz="20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וכו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'....)</a:t>
            </a:r>
          </a:p>
          <a:p>
            <a:pPr algn="r" rtl="1"/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he-IL" sz="2000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לדוגמא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הוספה של שדה בשם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לטבלת הסטודנטים. </a:t>
            </a:r>
          </a:p>
          <a:p>
            <a:pPr algn="r" rtl="1"/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אם סטודנט יסומן עם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= 1</a:t>
            </a: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זהו סימון שהוא "מחוק"  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Students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Set 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Students.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Where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Students.Student_Id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‘11111111’</a:t>
            </a:r>
            <a:endParaRPr lang="he-IL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32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862882" y="649457"/>
            <a:ext cx="10457645" cy="310854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endParaRPr lang="he-IL" sz="8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פקודת </a:t>
            </a:r>
            <a:r>
              <a:rPr lang="en-US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DELETE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(</a:t>
            </a:r>
            <a:r>
              <a:rPr lang="he-IL" b="1" u="sng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מחיקה פיזית)</a:t>
            </a:r>
            <a:endParaRPr lang="he-IL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 algn="r" rtl="1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הפקודה מאפשרת מחיקה של תוכן שורה בודדת של נתונים או קבוצת שורות בו זמנית המקיימות תנאי מסוים.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 algn="r" rtl="1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מבנה הפקודה ודוגמאות: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342900" lvl="0" indent="-342900" algn="r" rtl="1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572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DELETE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FROM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dbo.Employees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מחיקת כל שורות הטבלה               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DELETE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FROM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dbo.Orders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מחיקת שורות מהטבלה  המקיימות את התנאי המצוין    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OrderID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'10250'  AND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EmployeeID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'4'</a:t>
            </a:r>
            <a:endParaRPr lang="en-US" dirty="0"/>
          </a:p>
          <a:p>
            <a:pPr marL="457200"/>
            <a:endParaRPr lang="he-IL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3890" y="110270"/>
            <a:ext cx="80577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Procedure</a:t>
            </a:r>
            <a:r>
              <a:rPr 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he-IL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פרוצדורת</a:t>
            </a:r>
            <a:r>
              <a:rPr lang="he-IL"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מחיקה     </a:t>
            </a:r>
            <a:endParaRPr lang="he-IL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3220324" y="4146452"/>
            <a:ext cx="4809256" cy="2585323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Del_Marks_Low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@Mark decimal(5,1)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Where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Mark_Sem_A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&lt; @Mark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</a:p>
          <a:p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הפעלת הפרוצדורה                                         </a:t>
            </a: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Del_Marks_Low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40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</a:p>
        </p:txBody>
      </p:sp>
      <p:sp>
        <p:nvSpPr>
          <p:cNvPr id="5" name="מלבן 4"/>
          <p:cNvSpPr/>
          <p:nvPr/>
        </p:nvSpPr>
        <p:spPr>
          <a:xfrm>
            <a:off x="8443915" y="4115855"/>
            <a:ext cx="2605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 לפרוצדורת מחיקה: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5434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3277457" y="952824"/>
            <a:ext cx="5650786" cy="480131"/>
          </a:xfr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החזרת תוצאות לתחנה ל-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endParaRPr lang="he-IL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91246" y="2527443"/>
            <a:ext cx="1890445" cy="8309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פרמטרים של פלט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5646" y="2527443"/>
            <a:ext cx="1890445" cy="8309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טבלאות עזר זמניות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6896" y="2527443"/>
            <a:ext cx="1890445" cy="8309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latin typeface="Arial" panose="020B0604020202020204" pitchFamily="34" charset="0"/>
                <a:cs typeface="Arial" panose="020B0604020202020204" pitchFamily="34" charset="0"/>
              </a:rPr>
              <a:t>מערכים בזיכרון</a:t>
            </a:r>
          </a:p>
        </p:txBody>
      </p:sp>
      <p:cxnSp>
        <p:nvCxnSpPr>
          <p:cNvPr id="8" name="מחבר ישר 7"/>
          <p:cNvCxnSpPr>
            <a:stCxn id="3" idx="2"/>
            <a:endCxn id="4" idx="0"/>
          </p:cNvCxnSpPr>
          <p:nvPr/>
        </p:nvCxnSpPr>
        <p:spPr>
          <a:xfrm>
            <a:off x="6102850" y="1432955"/>
            <a:ext cx="3133619" cy="109448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/>
          <p:cNvCxnSpPr>
            <a:stCxn id="3" idx="2"/>
            <a:endCxn id="5" idx="0"/>
          </p:cNvCxnSpPr>
          <p:nvPr/>
        </p:nvCxnSpPr>
        <p:spPr>
          <a:xfrm flipH="1">
            <a:off x="6090869" y="1432955"/>
            <a:ext cx="11981" cy="109448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/>
          <p:cNvCxnSpPr>
            <a:stCxn id="3" idx="2"/>
            <a:endCxn id="6" idx="0"/>
          </p:cNvCxnSpPr>
          <p:nvPr/>
        </p:nvCxnSpPr>
        <p:spPr>
          <a:xfrm flipH="1">
            <a:off x="3202119" y="1432955"/>
            <a:ext cx="2900731" cy="109448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6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857256" y="1720113"/>
            <a:ext cx="1910299" cy="1164792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יצירת הפרוצדורה</a:t>
            </a:r>
            <a:endParaRPr kumimoji="0" lang="he-IL" altLang="he-IL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857256" y="4271515"/>
            <a:ext cx="1888566" cy="1167279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altLang="he-IL" sz="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הרצת הפרוצדורה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21982" y="377400"/>
            <a:ext cx="935006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alt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שימוש בפרמטרים לצורך פלט -  </a:t>
            </a:r>
            <a:r>
              <a:rPr lang="en-US" altLang="he-IL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altLang="he-IL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Parameters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363658" y="1508660"/>
            <a:ext cx="7330697" cy="193899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636838" algn="ctr"/>
                <a:tab pos="5273675" algn="r"/>
              </a:tabLst>
            </a:pP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kumimoji="0" lang="en-US" altLang="he-IL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45720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CREATE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PROC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b="1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proc_name</a:t>
            </a:r>
            <a:endParaRPr lang="en-US" altLang="he-IL" b="1" dirty="0">
              <a:solidFill>
                <a:schemeClr val="accent1">
                  <a:lumMod val="75000"/>
                </a:schemeClr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indent="45720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@param_name1  </a:t>
            </a:r>
            <a:r>
              <a:rPr lang="en-US" altLang="he-IL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data_type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[=Default]   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 marL="0" marR="0" indent="45720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@param_name2  </a:t>
            </a:r>
            <a:r>
              <a:rPr lang="en-US" altLang="he-IL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data_type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[=Default ]  </a:t>
            </a:r>
            <a:r>
              <a:rPr lang="en-US" altLang="he-IL" b="1" dirty="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, …</a:t>
            </a:r>
          </a:p>
          <a:p>
            <a:pPr marL="0" marR="0" indent="45720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AS  </a:t>
            </a:r>
          </a:p>
          <a:p>
            <a:pPr marL="0" marR="0" indent="45720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altLang="he-IL" b="1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sql_statement</a:t>
            </a:r>
            <a:endParaRPr lang="en-US" altLang="he-IL" b="1" dirty="0">
              <a:solidFill>
                <a:schemeClr val="accent1">
                  <a:lumMod val="75000"/>
                </a:schemeClr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636838" algn="ctr"/>
                <a:tab pos="5273675" algn="r"/>
              </a:tabLst>
            </a:pPr>
            <a:endParaRPr lang="en-US" altLang="he-IL" b="1" u="sng" dirty="0">
              <a:solidFill>
                <a:schemeClr val="accent1">
                  <a:lumMod val="75000"/>
                </a:schemeClr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363659" y="4107650"/>
            <a:ext cx="7330697" cy="143116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636838" algn="ctr"/>
                <a:tab pos="5273675" algn="r"/>
              </a:tabLst>
            </a:pPr>
            <a:endParaRPr kumimoji="0" lang="en-US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n-US" altLang="he-IL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DECLARE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@</a:t>
            </a:r>
            <a:r>
              <a:rPr lang="en-US" altLang="he-IL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param_name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data_type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</a:p>
          <a:p>
            <a:pPr marL="0" marR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n-US" altLang="he-IL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EXEC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b="1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proc_name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value 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@</a:t>
            </a:r>
            <a:r>
              <a:rPr lang="en-US" altLang="he-IL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param_name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he-IL" b="1" dirty="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OUTPUT </a:t>
            </a:r>
            <a:r>
              <a:rPr lang="en-US" altLang="he-IL" b="1" dirty="0">
                <a:solidFill>
                  <a:srgbClr val="C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   </a:t>
            </a:r>
          </a:p>
          <a:p>
            <a:pPr marL="0" marR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n-US" altLang="he-IL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en-US" altLang="he-IL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‘free text ‘, @</a:t>
            </a:r>
            <a:r>
              <a:rPr lang="en-US" altLang="he-IL" dirty="0" err="1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param_name</a:t>
            </a:r>
            <a:r>
              <a:rPr lang="en-US" altLang="he-IL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en-US" altLang="he-I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kumimoji="0" lang="en-US" altLang="he-IL" sz="12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636838" algn="ctr"/>
                <a:tab pos="5273675" algn="r"/>
              </a:tabLst>
            </a:pPr>
            <a:endParaRPr kumimoji="0" lang="en-US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071572" y="6057007"/>
            <a:ext cx="101514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הערה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כאשר פרוצדורה מכילה פרמטרים מסוג קלט וגם מסוג פלט, יש לרשום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קודם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את פרמטרי הקלט.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6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57248" y="612845"/>
            <a:ext cx="10615611" cy="5724644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he-IL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</a:p>
          <a:p>
            <a:pPr algn="r" rtl="1">
              <a:spcAft>
                <a:spcPts val="0"/>
              </a:spcAft>
            </a:pPr>
            <a:r>
              <a:rPr lang="he-IL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 1 –  יצירת פרוצדורה  עם  שני פרמטרים של קלט ועם פרמטר פלט</a:t>
            </a: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יצירת פרוצדורה, בשם: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math_tutor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המחשבת מכפלת  שני מספרים (המתקבלים כפרמטרים)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2637155" algn="ctr"/>
                <a:tab pos="5274310" algn="r"/>
                <a:tab pos="457200" algn="l"/>
              </a:tabLs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>
              <a:tabLst>
                <a:tab pos="2637155" algn="ctr"/>
                <a:tab pos="5274310" algn="r"/>
                <a:tab pos="457200" algn="l"/>
              </a:tabLs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math_tutor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2637155" algn="ctr"/>
                <a:tab pos="5274310" algn="r"/>
                <a:tab pos="457200" algn="l"/>
              </a:tabLs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@m1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Smallint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@m2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Smallint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@result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Smallint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AS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@result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@m1 * @m2</a:t>
            </a: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הרצת הפרוצדורה: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@answer 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Smallint</a:t>
            </a:r>
            <a:endParaRPr lang="en-US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EXECUTE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math_tutor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5 , 6 , @answer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‘ The result is : ‘ , @answer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תוצאות הרצת </a:t>
            </a:r>
            <a:r>
              <a:rPr lang="he-IL" b="1" u="sng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ההפרוצדורה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2637155" algn="ctr"/>
                <a:tab pos="5274310" algn="r"/>
                <a:tab pos="457200" algn="l"/>
              </a:tabLs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The result is :  30</a:t>
            </a:r>
          </a:p>
          <a:p>
            <a:pPr>
              <a:tabLst>
                <a:tab pos="2637155" algn="ctr"/>
                <a:tab pos="5274310" algn="r"/>
                <a:tab pos="457200" algn="l"/>
              </a:tabLst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0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685800" y="285760"/>
            <a:ext cx="10801349" cy="6278642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</a:p>
          <a:p>
            <a:pPr algn="r" rtl="1">
              <a:spcAft>
                <a:spcPts val="0"/>
              </a:spcAft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he-IL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 2 – יצירת פרוצדורה עם פרמטר של קלט ופלט</a:t>
            </a: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rt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pubs</a:t>
            </a:r>
          </a:p>
          <a:p>
            <a:pPr rtl="1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GO</a:t>
            </a:r>
          </a:p>
          <a:p>
            <a:pPr rt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Pubs_Count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</a:p>
          <a:p>
            <a:pPr indent="457200"/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@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inparm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Int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פרמטר של קלט לצורך קבלת גובה התמלוגים                                               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/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@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outparm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Int   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פרמטר של פלט לצורך הצגת התוצאה של ספירת מספר הכותרים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rtl="1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AS</a:t>
            </a:r>
          </a:p>
          <a:p>
            <a:pPr indent="457200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  FROM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Titles  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להצגת הרשימה                                              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Royalty &gt; 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inparm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outparm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COUNT (*)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FROM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Titles       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להצגת תוצאות הספירה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Royalty &gt; 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inparm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הרצת הפרוצדורה: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DECLARE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int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EXECUTE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Pubs_Count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12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' The result is : '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he-IL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תוצאות הרצת הפרוצדורה: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בפלט תופיע רשימת כל שורות הכותרים העונים על התנאי (כולל כל העמודות מטבלת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Titles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וגם שורת הסיכום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    </a:t>
            </a:r>
          </a:p>
          <a:p>
            <a:pPr algn="r" rtl="1">
              <a:spcAft>
                <a:spcPts val="0"/>
              </a:spcAft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למשל אם הופיעו 10 שורות, בסוף הרשימה, יופיע המשפט:   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result is :</a:t>
            </a:r>
            <a:endParaRPr lang="he-IL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spcAft>
                <a:spcPts val="0"/>
              </a:spcAft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Line Business 16x9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F180B1C-2212-497F-A259-C959ADD048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1396</Words>
  <Application>Microsoft Office PowerPoint</Application>
  <PresentationFormat>מסך רחב</PresentationFormat>
  <Paragraphs>224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0" baseType="lpstr">
      <vt:lpstr>Arial</vt:lpstr>
      <vt:lpstr>Cambria</vt:lpstr>
      <vt:lpstr>David</vt:lpstr>
      <vt:lpstr>Times New Roman</vt:lpstr>
      <vt:lpstr>Red Line Business 16x9</vt:lpstr>
      <vt:lpstr>מסדי נתונים ב'  פרוצדורות 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2016-10-31T18:31:00Z</dcterms:created>
  <dcterms:modified xsi:type="dcterms:W3CDTF">2025-11-08T18:08:51Z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TC030310239991</vt:lpwstr>
  </property>
</Properties>
</file>